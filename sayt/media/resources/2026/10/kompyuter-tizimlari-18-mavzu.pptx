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Kompyuter tizimlari · 18-mavzu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 / 15</a:t>
            </a:r>
          </a:p>
        </p:txBody>
      </p:sp>
      <p:sp>
        <p:nvSpPr>
          <p:cNvPr id="34" name="Round Same Side Corner Rectangle 33"/>
          <p:cNvSpPr/>
          <p:nvPr/>
        </p:nvSpPr>
        <p:spPr>
          <a:xfrm>
            <a:off x="731520" y="777240"/>
            <a:ext cx="3291840" cy="51206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698430" y="1835590"/>
            <a:ext cx="1358019" cy="1358019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 rot="2700000">
            <a:off x="1698430" y="1835590"/>
            <a:ext cx="1358019" cy="1358019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280160" y="2148840"/>
            <a:ext cx="2282342" cy="629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4600"/>
              </a:lnSpc>
            </a:pPr>
            <a:r>
              <a:rPr sz="4600" b="1">
                <a:solidFill>
                  <a:srgbClr val="9E2A3A"/>
                </a:solidFill>
                <a:latin typeface="Georgia"/>
              </a:rPr>
              <a:t>18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" y="4114800"/>
            <a:ext cx="3043123" cy="2679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750"/>
              </a:lnSpc>
            </a:pPr>
            <a:r>
              <a:rPr sz="1400" b="1">
                <a:solidFill>
                  <a:srgbClr val="F4EBDD"/>
                </a:solidFill>
                <a:latin typeface="Segoe UI"/>
              </a:rPr>
              <a:t>MAVZU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" y="4434840"/>
            <a:ext cx="3043123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625"/>
              </a:lnSpc>
            </a:pPr>
            <a:r>
              <a:rPr sz="1300" b="0">
                <a:solidFill>
                  <a:srgbClr val="F4EBDD"/>
                </a:solidFill>
                <a:latin typeface="Segoe UI"/>
              </a:rPr>
              <a:t>Amaliy · 2 soat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0" y="1097280"/>
            <a:ext cx="7163702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300" b="1">
                <a:solidFill>
                  <a:srgbClr val="9E2A3A"/>
                </a:solidFill>
                <a:latin typeface="Segoe UI"/>
              </a:rPr>
              <a:t>KOMPYUTER TIZIMLARI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0" y="1532255"/>
            <a:ext cx="7163702" cy="1752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480"/>
              </a:lnSpc>
            </a:pPr>
            <a:r>
              <a:rPr sz="4000" b="1">
                <a:solidFill>
                  <a:srgbClr val="1B2A4A"/>
                </a:solidFill>
                <a:latin typeface="Georgia"/>
              </a:rPr>
              <a:t>Qurilmalar holatini</a:t>
            </a:r>
            <a:br/>
            <a:r>
              <a:rPr sz="4000" b="1">
                <a:solidFill>
                  <a:srgbClr val="1B2A4A"/>
                </a:solidFill>
                <a:latin typeface="Georgia"/>
              </a:rPr>
              <a:t>Device Manager orqali</a:t>
            </a:r>
            <a:br/>
            <a:r>
              <a:rPr sz="4000" b="1">
                <a:solidFill>
                  <a:srgbClr val="1B2A4A"/>
                </a:solidFill>
                <a:latin typeface="Georgia"/>
              </a:rPr>
              <a:t>tekshirish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72000" y="3467735"/>
            <a:ext cx="1097280" cy="54864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572000" y="3787774"/>
            <a:ext cx="7163702" cy="363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00"/>
              </a:lnSpc>
            </a:pPr>
            <a:r>
              <a:rPr sz="2000" b="1">
                <a:solidFill>
                  <a:srgbClr val="1B2A4A"/>
                </a:solidFill>
                <a:latin typeface="Segoe UI"/>
              </a:rPr>
              <a:t>Oydin Tashtemirova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72000" y="4178427"/>
            <a:ext cx="7163702" cy="2838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75"/>
              </a:lnSpc>
            </a:pPr>
            <a:r>
              <a:rPr sz="1500" b="0">
                <a:solidFill>
                  <a:srgbClr val="6B6457"/>
                </a:solidFill>
                <a:latin typeface="Segoe UI"/>
              </a:rPr>
              <a:t>Maxsus fan o‘qituvchisi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0" y="4489704"/>
            <a:ext cx="7163702" cy="2838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75"/>
              </a:lnSpc>
            </a:pPr>
            <a:r>
              <a:rPr sz="1500" b="0">
                <a:solidFill>
                  <a:srgbClr val="6B6457"/>
                </a:solidFill>
                <a:latin typeface="Segoe UI"/>
              </a:rPr>
              <a:t>Piskent tuman 1-son texnikumi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Kompyuter tizimlari · 18-mavzu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2 / 15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9E2A3A"/>
                </a:solidFill>
                <a:latin typeface="Segoe UI"/>
              </a:rPr>
              <a:t>18-MAVZU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Mashg‘ulot rejasi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31520" y="1645158"/>
            <a:ext cx="10728655" cy="1234440"/>
          </a:xfrm>
          <a:prstGeom prst="roundRect">
            <a:avLst>
              <a:gd name="adj" fmla="val 592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047356" y="2029574"/>
            <a:ext cx="465606" cy="46560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 rot="2700000">
            <a:off x="1047356" y="2029574"/>
            <a:ext cx="465606" cy="46560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05840" y="2079498"/>
            <a:ext cx="570585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2000" b="1">
                <a:solidFill>
                  <a:srgbClr val="F4EBDD"/>
                </a:solidFill>
                <a:latin typeface="Georgia"/>
              </a:rPr>
              <a:t>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828800" y="1896618"/>
            <a:ext cx="9826435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>
                <a:solidFill>
                  <a:srgbClr val="1B2A4A"/>
                </a:solidFill>
                <a:latin typeface="Georgia"/>
              </a:rPr>
              <a:t>Qurilmalar menejeri (device manager) vazifasi, ochish</a:t>
            </a:r>
            <a:br/>
            <a:r>
              <a:rPr sz="2400" b="1">
                <a:solidFill>
                  <a:srgbClr val="1B2A4A"/>
                </a:solidFill>
                <a:latin typeface="Georgia"/>
              </a:rPr>
              <a:t>usullari va oynaning tuzilishi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31520" y="3108198"/>
            <a:ext cx="10728655" cy="1234440"/>
          </a:xfrm>
          <a:prstGeom prst="roundRect">
            <a:avLst>
              <a:gd name="adj" fmla="val 592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047356" y="3492614"/>
            <a:ext cx="465606" cy="46560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 rot="2700000">
            <a:off x="1047356" y="3492614"/>
            <a:ext cx="465606" cy="46560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05840" y="3542538"/>
            <a:ext cx="570585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2000" b="1">
                <a:solidFill>
                  <a:srgbClr val="F4EBDD"/>
                </a:solidFill>
                <a:latin typeface="Georgia"/>
              </a:rPr>
              <a:t>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828800" y="3359658"/>
            <a:ext cx="9826435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>
                <a:solidFill>
                  <a:srgbClr val="1B2A4A"/>
                </a:solidFill>
                <a:latin typeface="Georgia"/>
              </a:rPr>
              <a:t>Qurilma holati belgilari, xossalari va drayver bilan ishlash</a:t>
            </a:r>
            <a:br/>
            <a:r>
              <a:rPr sz="2400" b="1">
                <a:solidFill>
                  <a:srgbClr val="1B2A4A"/>
                </a:solidFill>
                <a:latin typeface="Georgia"/>
              </a:rPr>
              <a:t>amallari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31520" y="4571238"/>
            <a:ext cx="10728655" cy="1234440"/>
          </a:xfrm>
          <a:prstGeom prst="roundRect">
            <a:avLst>
              <a:gd name="adj" fmla="val 592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1047356" y="4955654"/>
            <a:ext cx="465606" cy="46560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 rot="2700000">
            <a:off x="1047356" y="4955654"/>
            <a:ext cx="465606" cy="46560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05840" y="5005578"/>
            <a:ext cx="570585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2000" b="1">
                <a:solidFill>
                  <a:srgbClr val="F4EBDD"/>
                </a:solidFill>
                <a:latin typeface="Georgia"/>
              </a:rPr>
              <a:t>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828800" y="4822698"/>
            <a:ext cx="9826435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>
                <a:solidFill>
                  <a:srgbClr val="1B2A4A"/>
                </a:solidFill>
                <a:latin typeface="Georgia"/>
              </a:rPr>
              <a:t>Amaliy mashq: qurilmalar menejerida muammoli</a:t>
            </a:r>
            <a:br/>
            <a:r>
              <a:rPr sz="2400" b="1">
                <a:solidFill>
                  <a:srgbClr val="1B2A4A"/>
                </a:solidFill>
                <a:latin typeface="Georgia"/>
              </a:rPr>
              <a:t>qurilmani topish va drayverni boshqarish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Kompyuter tizimlari · 18-mavzu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3 / 15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9E2A3A"/>
                </a:solidFill>
                <a:latin typeface="Segoe UI"/>
              </a:rPr>
              <a:t>18-MAVZU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Maqsad va kutilayotgan natija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31520" y="1645158"/>
            <a:ext cx="5181447" cy="4344161"/>
          </a:xfrm>
          <a:prstGeom prst="roundRect">
            <a:avLst>
              <a:gd name="adj" fmla="val 1683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31520" y="1645158"/>
            <a:ext cx="5181447" cy="8229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1560" y="1965198"/>
            <a:ext cx="4723022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300" b="1">
                <a:solidFill>
                  <a:srgbClr val="9E2A3A"/>
                </a:solidFill>
                <a:latin typeface="Segoe UI"/>
              </a:rPr>
              <a:t>MAQSAD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1560" y="2376678"/>
            <a:ext cx="4723022" cy="3337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sz="2400" b="0">
                <a:solidFill>
                  <a:srgbClr val="3A4560"/>
                </a:solidFill>
                <a:latin typeface="Segoe UI"/>
              </a:rPr>
              <a:t>O‘quvchilarga Windows</a:t>
            </a:r>
            <a:br/>
            <a:r>
              <a:rPr sz="2400" b="0">
                <a:solidFill>
                  <a:srgbClr val="3A4560"/>
                </a:solidFill>
                <a:latin typeface="Segoe UI"/>
              </a:rPr>
              <a:t>qurilmalar menejeri yordamida</a:t>
            </a:r>
            <a:br/>
            <a:r>
              <a:rPr sz="2400" b="0">
                <a:solidFill>
                  <a:srgbClr val="3A4560"/>
                </a:solidFill>
                <a:latin typeface="Segoe UI"/>
              </a:rPr>
              <a:t>kompyuter qurilmalari holatini</a:t>
            </a:r>
            <a:br/>
            <a:r>
              <a:rPr sz="2400" b="0">
                <a:solidFill>
                  <a:srgbClr val="3A4560"/>
                </a:solidFill>
                <a:latin typeface="Segoe UI"/>
              </a:rPr>
              <a:t>aniqlash, xatolik belgilari va</a:t>
            </a:r>
            <a:br/>
            <a:r>
              <a:rPr sz="2400" b="0">
                <a:solidFill>
                  <a:srgbClr val="3A4560"/>
                </a:solidFill>
                <a:latin typeface="Segoe UI"/>
              </a:rPr>
              <a:t>kodlarini o‘qish hamda drayverni</a:t>
            </a:r>
            <a:br/>
            <a:r>
              <a:rPr sz="2400" b="0">
                <a:solidFill>
                  <a:srgbClr val="3A4560"/>
                </a:solidFill>
                <a:latin typeface="Segoe UI"/>
              </a:rPr>
              <a:t>yangilash, orqaga qaytarish va</a:t>
            </a:r>
            <a:br/>
            <a:r>
              <a:rPr sz="2400" b="0">
                <a:solidFill>
                  <a:srgbClr val="3A4560"/>
                </a:solidFill>
                <a:latin typeface="Segoe UI"/>
              </a:rPr>
              <a:t>qayta o‘rnatish bo‘yicha amaliy</a:t>
            </a:r>
            <a:br/>
            <a:r>
              <a:rPr sz="2400" b="0">
                <a:solidFill>
                  <a:srgbClr val="3A4560"/>
                </a:solidFill>
                <a:latin typeface="Segoe UI"/>
              </a:rPr>
              <a:t>ko‘nikmalar berish.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278727" y="1645158"/>
            <a:ext cx="5181447" cy="4344161"/>
          </a:xfrm>
          <a:prstGeom prst="roundRect">
            <a:avLst>
              <a:gd name="adj" fmla="val 1683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278727" y="1645158"/>
            <a:ext cx="5181447" cy="82296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98767" y="1965198"/>
            <a:ext cx="4723022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300" b="1">
                <a:solidFill>
                  <a:srgbClr val="B9862A"/>
                </a:solidFill>
                <a:latin typeface="Segoe UI"/>
              </a:rPr>
              <a:t>KUTILAYOTGAN NATIJA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98767" y="2376678"/>
            <a:ext cx="4723022" cy="31661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600" b="0">
                <a:solidFill>
                  <a:srgbClr val="3A4560"/>
                </a:solidFill>
                <a:latin typeface="Segoe UI"/>
              </a:rPr>
              <a:t>Qurilmalar menejerini turli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usullarda ochadilar, muammoli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qurilmani belgisiga ko‘ra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topadilar, xatolik kodini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izohlaydilar va drayver bilan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bog‘liq muammoni bartaraf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eta oladilar.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Kompyuter tizimlari · 18-mavzu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4 / 15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9E2A3A"/>
                </a:solidFill>
                <a:latin typeface="Segoe UI"/>
              </a:rPr>
              <a:t>1-REJA · QURILMALAR MENEJERI (DEVICE MANAGER) VAZIFASI, OCHISH USULLARI VA OYNANING TUZILISHI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Qurilmalar menejeri nima?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141046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13830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700" b="0">
                <a:solidFill>
                  <a:srgbClr val="3A4560"/>
                </a:solidFill>
                <a:latin typeface="Segoe UI"/>
              </a:rPr>
              <a:t>Qurilmalar menejeri (Device Manager) — Windows’ning ichki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boshqaruv vositasi bo‘lib, kompyuterga o‘rnatilgan va ulangan barcha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apparat qurilmalarni guruhlar bo‘yicha ko‘rsatadi.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Kompyuter tizimlari · 18-mavzu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5 / 15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9E2A3A"/>
                </a:solidFill>
                <a:latin typeface="Segoe UI"/>
              </a:rPr>
              <a:t>1-REJA · QURILMALAR MENEJERI (DEVICE MANAGER) VAZIFASI, OCHISH USULLARI VA OYNANING TUZILISHI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Ochish usullari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89865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871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250"/>
              </a:lnSpc>
            </a:pPr>
            <a:r>
              <a:rPr sz="2500" b="0">
                <a:solidFill>
                  <a:srgbClr val="3A4560"/>
                </a:solidFill>
                <a:latin typeface="Segoe UI"/>
              </a:rPr>
              <a:t>Drayverlarni o‘zgartirish uchun administrator huquqi kerak. Standart</a:t>
            </a:r>
            <a:br/>
            <a:r>
              <a:rPr sz="2500" b="0">
                <a:solidFill>
                  <a:srgbClr val="3A4560"/>
                </a:solidFill>
                <a:latin typeface="Segoe UI"/>
              </a:rPr>
              <a:t>foydalanuvchi qurilmalar menejerini faqat ko‘rish rejimida ochadi.</a:t>
            </a:r>
          </a:p>
        </p:txBody>
      </p:sp>
      <p:sp>
        <p:nvSpPr>
          <p:cNvPr id="39" name="Rectangle 38"/>
          <p:cNvSpPr/>
          <p:nvPr/>
        </p:nvSpPr>
        <p:spPr>
          <a:xfrm rot="2700000">
            <a:off x="841161" y="2805851"/>
            <a:ext cx="109901" cy="109901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2671826"/>
            <a:ext cx="10729862" cy="8260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072"/>
              </a:lnSpc>
            </a:pPr>
            <a:r>
              <a:rPr sz="2400" b="1">
                <a:solidFill>
                  <a:srgbClr val="1B2A4A"/>
                </a:solidFill>
                <a:latin typeface="Segoe UI"/>
              </a:rPr>
              <a:t>Win + X: </a:t>
            </a:r>
            <a:r>
              <a:rPr sz="2400" b="0">
                <a:solidFill>
                  <a:srgbClr val="1B2A4A"/>
                </a:solidFill>
                <a:latin typeface="Segoe UI"/>
              </a:rPr>
              <a:t>tugmalari (yoki Boshlash tugmasini o‘ng tugma bilan bosish) →</a:t>
            </a:r>
            <a:br/>
            <a:r>
              <a:rPr sz="2400" b="0">
                <a:solidFill>
                  <a:srgbClr val="1B2A4A"/>
                </a:solidFill>
                <a:latin typeface="Segoe UI"/>
              </a:rPr>
              <a:t>«Qurilmalar menejeri».</a:t>
            </a:r>
          </a:p>
        </p:txBody>
      </p:sp>
      <p:sp>
        <p:nvSpPr>
          <p:cNvPr id="41" name="Rectangle 40"/>
          <p:cNvSpPr/>
          <p:nvPr/>
        </p:nvSpPr>
        <p:spPr>
          <a:xfrm rot="2700000">
            <a:off x="841161" y="3732443"/>
            <a:ext cx="109901" cy="109901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43000" y="3598418"/>
            <a:ext cx="10729862" cy="4358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072"/>
              </a:lnSpc>
            </a:pPr>
            <a:r>
              <a:rPr sz="2400" b="1">
                <a:solidFill>
                  <a:srgbClr val="1B2A4A"/>
                </a:solidFill>
                <a:latin typeface="Segoe UI"/>
              </a:rPr>
              <a:t>Win + R: </a:t>
            </a:r>
            <a:r>
              <a:rPr sz="2400" b="0">
                <a:solidFill>
                  <a:srgbClr val="1B2A4A"/>
                </a:solidFill>
                <a:latin typeface="Segoe UI"/>
              </a:rPr>
              <a:t>→ devmgmt.msc → Enter.</a:t>
            </a:r>
          </a:p>
        </p:txBody>
      </p:sp>
      <p:sp>
        <p:nvSpPr>
          <p:cNvPr id="43" name="Rectangle 42"/>
          <p:cNvSpPr/>
          <p:nvPr/>
        </p:nvSpPr>
        <p:spPr>
          <a:xfrm rot="2700000">
            <a:off x="841161" y="4268891"/>
            <a:ext cx="109901" cy="109901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143000" y="4134866"/>
            <a:ext cx="10729862" cy="8260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072"/>
              </a:lnSpc>
            </a:pPr>
            <a:r>
              <a:rPr sz="2400" b="1">
                <a:solidFill>
                  <a:srgbClr val="1B2A4A"/>
                </a:solidFill>
                <a:latin typeface="Segoe UI"/>
              </a:rPr>
              <a:t>Kompyuterni boshqarish: </a:t>
            </a:r>
            <a:r>
              <a:rPr sz="2400" b="0">
                <a:solidFill>
                  <a:srgbClr val="1B2A4A"/>
                </a:solidFill>
                <a:latin typeface="Segoe UI"/>
              </a:rPr>
              <a:t>Win + R → compmgmt.msc → chap paneldagi</a:t>
            </a:r>
            <a:br/>
            <a:r>
              <a:rPr sz="2400" b="0">
                <a:solidFill>
                  <a:srgbClr val="1B2A4A"/>
                </a:solidFill>
                <a:latin typeface="Segoe UI"/>
              </a:rPr>
              <a:t>«Qurilmalar menejeri».</a:t>
            </a:r>
          </a:p>
        </p:txBody>
      </p:sp>
      <p:sp>
        <p:nvSpPr>
          <p:cNvPr id="45" name="Rectangle 44"/>
          <p:cNvSpPr/>
          <p:nvPr/>
        </p:nvSpPr>
        <p:spPr>
          <a:xfrm rot="2700000">
            <a:off x="841161" y="5195483"/>
            <a:ext cx="109901" cy="109901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143000" y="5061458"/>
            <a:ext cx="10729862" cy="8260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072"/>
              </a:lnSpc>
            </a:pPr>
            <a:r>
              <a:rPr sz="2400" b="1">
                <a:solidFill>
                  <a:srgbClr val="1B2A4A"/>
                </a:solidFill>
                <a:latin typeface="Segoe UI"/>
              </a:rPr>
              <a:t>Boshqaruv paneli: </a:t>
            </a:r>
            <a:r>
              <a:rPr sz="2400" b="0">
                <a:solidFill>
                  <a:srgbClr val="1B2A4A"/>
                </a:solidFill>
                <a:latin typeface="Segoe UI"/>
              </a:rPr>
              <a:t>Apparat va ovoz → Qurilmalar va printerlar bo‘limi</a:t>
            </a:r>
            <a:br/>
            <a:r>
              <a:rPr sz="2400" b="0">
                <a:solidFill>
                  <a:srgbClr val="1B2A4A"/>
                </a:solidFill>
                <a:latin typeface="Segoe UI"/>
              </a:rPr>
              <a:t>ostidagi «Qurilmalar menejeri» havolasi.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Kompyuter tizimlari · 18-mavzu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6 / 15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9E2A3A"/>
                </a:solidFill>
                <a:latin typeface="Segoe UI"/>
              </a:rPr>
              <a:t>1-REJA · QURILMALAR MENEJERI (DEVICE MANAGER) VAZIFASI, OCHISH USULLARI VA OYNANING TUZILISHI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Oynaning tuzilishi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141046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13830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700" b="0">
                <a:solidFill>
                  <a:srgbClr val="3A4560"/>
                </a:solidFill>
                <a:latin typeface="Segoe UI"/>
              </a:rPr>
              <a:t>Oynada kompyuter nomi ostida qurilmalar toifalari ro‘yxati bor: Audio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kirish va chiqish, Disk qurilmalari, Displey adapterlari, Klaviaturalar,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Protsessorlar, Tarmoq adapterlari, USB kontrollerlari va boshqalar.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Kompyuter tizimlari · 18-mavzu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7 / 15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9E2A3A"/>
                </a:solidFill>
                <a:latin typeface="Segoe UI"/>
              </a:rPr>
              <a:t>2-REJA · QURILMA HOLATI BELGILARI, XOSSALARI VA DRAYVER BILAN ISHLASH AMALLARI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Holat belgilari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37" name="Table 36"/>
          <p:cNvGraphicFramePr>
            <a:graphicFrameLocks noGrp="1"/>
          </p:cNvGraphicFramePr>
          <p:nvPr/>
        </p:nvGraphicFramePr>
        <p:xfrm>
          <a:off x="731520" y="1645158"/>
          <a:ext cx="10728654" cy="332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1459"/>
                <a:gridCol w="4476705"/>
                <a:gridCol w="3550490"/>
              </a:tblGrid>
              <a:tr h="484505"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Belgi</a:t>
                      </a:r>
                    </a:p>
                  </a:txBody>
                  <a:tcPr marL="109728" marR="109728" marT="73152" marB="73152">
                    <a:solidFill>
                      <a:srgbClr val="9E2A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Ma’nosi</a:t>
                      </a:r>
                    </a:p>
                  </a:txBody>
                  <a:tcPr marL="109728" marR="109728" marT="73152" marB="73152">
                    <a:solidFill>
                      <a:srgbClr val="9E2A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Birinchi harakat</a:t>
                      </a:r>
                    </a:p>
                  </a:txBody>
                  <a:tcPr marL="109728" marR="109728" marT="73152" marB="73152">
                    <a:solidFill>
                      <a:srgbClr val="9E2A3A"/>
                    </a:solidFill>
                  </a:tcPr>
                </a:tc>
              </a:tr>
              <a:tr h="786130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Sariq uchburchakda undov belgisi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Qurilmada muammo: drayver yo‘q, buzilgan yoki ziddiyat bor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Xossalardan xatolik kodini o‘qish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786130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Pastga qaragan qora strelka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Qurilma foydalanuvchi tomonidan o‘chirilgan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O‘ng tugma → «Qurilmani yoqish»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786130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«Noma’lum qurilma» (Unknown device)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Windows qurilmani tanimadi, drayver yo‘q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Apparat identifikatori orqali drayverni topish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Belgisiz oddiy ikonka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Qurilma normal ishlayapti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Hech narsa talab qilinmaydi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Kompyuter tizimlari · 18-mavzu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8 / 15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9E2A3A"/>
                </a:solidFill>
                <a:latin typeface="Segoe UI"/>
              </a:rPr>
              <a:t>2-REJA · QURILMA HOLATI BELGILARI, XOSSALARI VA DRAYVER BILAN ISHLASH AMALLARI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Qurilma xossalari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70053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673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0"/>
              </a:lnSpc>
            </a:pPr>
            <a:r>
              <a:rPr sz="1900" b="0">
                <a:solidFill>
                  <a:srgbClr val="3A4560"/>
                </a:solidFill>
                <a:latin typeface="Segoe UI"/>
              </a:rPr>
              <a:t>Qurilmani ikki marta bosish yoki o‘ng tugma → «Xossalar» bilan oyna ochiladi. Umumiy yorlig‘idagi</a:t>
            </a:r>
            <a:br/>
            <a:r>
              <a:rPr sz="1900" b="0">
                <a:solidFill>
                  <a:srgbClr val="3A4560"/>
                </a:solidFill>
                <a:latin typeface="Segoe UI"/>
              </a:rPr>
              <a:t>«Qurilma holati» maydonida «Bu qurilma normal ishlayapti» yoki xatolik kodi bilan izoh yoziladi.</a:t>
            </a:r>
          </a:p>
        </p:txBody>
      </p:sp>
      <p:graphicFrame>
        <p:nvGraphicFramePr>
          <p:cNvPr id="39" name="Table 38"/>
          <p:cNvGraphicFramePr>
            <a:graphicFrameLocks noGrp="1"/>
          </p:cNvGraphicFramePr>
          <p:nvPr/>
        </p:nvGraphicFramePr>
        <p:xfrm>
          <a:off x="731520" y="2501138"/>
          <a:ext cx="10728653" cy="348614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80265"/>
                <a:gridCol w="4096395"/>
                <a:gridCol w="5851993"/>
              </a:tblGrid>
              <a:tr h="468629">
                <a:tc>
                  <a:txBody>
                    <a:bodyPr wrap="square"/>
                    <a:lstStyle/>
                    <a:p>
                      <a:r>
                        <a:rPr sz="1800" b="1">
                          <a:solidFill>
                            <a:srgbClr val="F4EBDD"/>
                          </a:solidFill>
                          <a:latin typeface="Segoe UI"/>
                        </a:rPr>
                        <a:t>Kod</a:t>
                      </a:r>
                    </a:p>
                  </a:txBody>
                  <a:tcPr marL="109728" marR="109728" marT="73152" marB="73152">
                    <a:solidFill>
                      <a:srgbClr val="9E2A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1">
                          <a:solidFill>
                            <a:srgbClr val="F4EBDD"/>
                          </a:solidFill>
                          <a:latin typeface="Segoe UI"/>
                        </a:rPr>
                        <a:t>Ma’nosi</a:t>
                      </a:r>
                    </a:p>
                  </a:txBody>
                  <a:tcPr marL="109728" marR="109728" marT="73152" marB="73152">
                    <a:solidFill>
                      <a:srgbClr val="9E2A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1">
                          <a:solidFill>
                            <a:srgbClr val="F4EBDD"/>
                          </a:solidFill>
                          <a:latin typeface="Segoe UI"/>
                        </a:rPr>
                        <a:t>Odatdagi yechim</a:t>
                      </a:r>
                    </a:p>
                  </a:txBody>
                  <a:tcPr marL="109728" marR="109728" marT="73152" marB="73152">
                    <a:solidFill>
                      <a:srgbClr val="9E2A3A"/>
                    </a:solidFill>
                  </a:tcPr>
                </a:tc>
              </a:tr>
              <a:tr h="754380"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B2A4A"/>
                          </a:solidFill>
                          <a:latin typeface="Segoe UI"/>
                        </a:rPr>
                        <a:t>Code 10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B2A4A"/>
                          </a:solidFill>
                          <a:latin typeface="Segoe UI"/>
                        </a:rPr>
                        <a:t>Qurilmani ishga tushirib bo‘lmaydi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B2A4A"/>
                          </a:solidFill>
                          <a:latin typeface="Segoe UI"/>
                        </a:rPr>
                        <a:t>Drayverni yangilash yoki qayta o‘rnatish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754380"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B2A4A"/>
                          </a:solidFill>
                          <a:latin typeface="Segoe UI"/>
                        </a:rPr>
                        <a:t>Code 22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B2A4A"/>
                          </a:solidFill>
                          <a:latin typeface="Segoe UI"/>
                        </a:rPr>
                        <a:t>Qurilma o‘chirilgan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B2A4A"/>
                          </a:solidFill>
                          <a:latin typeface="Segoe UI"/>
                        </a:rPr>
                        <a:t>Qurilmani yoqish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754380"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B2A4A"/>
                          </a:solidFill>
                          <a:latin typeface="Segoe UI"/>
                        </a:rPr>
                        <a:t>Code 28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B2A4A"/>
                          </a:solidFill>
                          <a:latin typeface="Segoe UI"/>
                        </a:rPr>
                        <a:t>Drayverlar o‘rnatilmagan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B2A4A"/>
                          </a:solidFill>
                          <a:latin typeface="Segoe UI"/>
                        </a:rPr>
                        <a:t>Mos drayverni o‘rnatish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754380"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B2A4A"/>
                          </a:solidFill>
                          <a:latin typeface="Segoe UI"/>
                        </a:rPr>
                        <a:t>Code 43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B2A4A"/>
                          </a:solidFill>
                          <a:latin typeface="Segoe UI"/>
                        </a:rPr>
                        <a:t>Windows qurilmani muammo tufayli to‘xtatdi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B2A4A"/>
                          </a:solidFill>
                          <a:latin typeface="Segoe UI"/>
                        </a:rPr>
                        <a:t>Qayta ulash, drayverni qayta o‘rnatish, apparatni tekshirish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Kompyuter tizimlari · 18-mavzu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9 / 15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9E2A3A"/>
                </a:solidFill>
                <a:latin typeface="Segoe UI"/>
              </a:rPr>
              <a:t>2-REJA · QURILMA HOLATI BELGILARI, XOSSALARI VA DRAYVER BILAN ISHLASH AMALLARI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Drayver bilan ishlash amallari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 rot="2700000">
            <a:off x="841161" y="1763435"/>
            <a:ext cx="109901" cy="109901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143000" y="1645158"/>
            <a:ext cx="10729862" cy="7609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16"/>
              </a:lnSpc>
            </a:pPr>
            <a:r>
              <a:rPr sz="2200" b="1">
                <a:solidFill>
                  <a:srgbClr val="1B2A4A"/>
                </a:solidFill>
                <a:latin typeface="Segoe UI"/>
              </a:rPr>
              <a:t>Drayverni yangilash: </a:t>
            </a:r>
            <a:r>
              <a:rPr sz="2200" b="0">
                <a:solidFill>
                  <a:srgbClr val="1B2A4A"/>
                </a:solidFill>
                <a:latin typeface="Segoe UI"/>
              </a:rPr>
              <a:t>avtomatik qidirish yoki kompyuterdagi papkadan drayverni</a:t>
            </a:r>
            <a:br/>
            <a:r>
              <a:rPr sz="2200" b="0">
                <a:solidFill>
                  <a:srgbClr val="1B2A4A"/>
                </a:solidFill>
                <a:latin typeface="Segoe UI"/>
              </a:rPr>
              <a:t>ko‘rsatish.</a:t>
            </a:r>
          </a:p>
        </p:txBody>
      </p:sp>
      <p:sp>
        <p:nvSpPr>
          <p:cNvPr id="39" name="Rectangle 38"/>
          <p:cNvSpPr/>
          <p:nvPr/>
        </p:nvSpPr>
        <p:spPr>
          <a:xfrm rot="2700000">
            <a:off x="841161" y="2625003"/>
            <a:ext cx="109901" cy="109901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2506726"/>
            <a:ext cx="10729862" cy="7609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16"/>
              </a:lnSpc>
            </a:pPr>
            <a:r>
              <a:rPr sz="2200" b="1">
                <a:solidFill>
                  <a:srgbClr val="1B2A4A"/>
                </a:solidFill>
                <a:latin typeface="Segoe UI"/>
              </a:rPr>
              <a:t>Drayverni orqaga qaytarish (Roll Back): </a:t>
            </a:r>
            <a:r>
              <a:rPr sz="2200" b="0">
                <a:solidFill>
                  <a:srgbClr val="1B2A4A"/>
                </a:solidFill>
                <a:latin typeface="Segoe UI"/>
              </a:rPr>
              <a:t>yangi drayverdan keyin muammo paydo</a:t>
            </a:r>
            <a:br/>
            <a:r>
              <a:rPr sz="2200" b="0">
                <a:solidFill>
                  <a:srgbClr val="1B2A4A"/>
                </a:solidFill>
                <a:latin typeface="Segoe UI"/>
              </a:rPr>
              <a:t>bo‘lsa, oldingi versiyaga qaytish; tugma faqat oldingi versiya saqlangan bo‘lsa faol.</a:t>
            </a:r>
          </a:p>
        </p:txBody>
      </p:sp>
      <p:sp>
        <p:nvSpPr>
          <p:cNvPr id="41" name="Rectangle 40"/>
          <p:cNvSpPr/>
          <p:nvPr/>
        </p:nvSpPr>
        <p:spPr>
          <a:xfrm rot="2700000">
            <a:off x="841161" y="3486571"/>
            <a:ext cx="109901" cy="109901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43000" y="3368294"/>
            <a:ext cx="10729862" cy="403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16"/>
              </a:lnSpc>
            </a:pPr>
            <a:r>
              <a:rPr sz="2200" b="1">
                <a:solidFill>
                  <a:srgbClr val="1B2A4A"/>
                </a:solidFill>
                <a:latin typeface="Segoe UI"/>
              </a:rPr>
              <a:t>Qurilmani o‘chirib qo‘yish / yoqish: </a:t>
            </a:r>
            <a:r>
              <a:rPr sz="2200" b="0">
                <a:solidFill>
                  <a:srgbClr val="1B2A4A"/>
                </a:solidFill>
                <a:latin typeface="Segoe UI"/>
              </a:rPr>
              <a:t>qurilmani vaqtincha ishlatmaslik.</a:t>
            </a:r>
          </a:p>
        </p:txBody>
      </p:sp>
      <p:sp>
        <p:nvSpPr>
          <p:cNvPr id="43" name="Rectangle 42"/>
          <p:cNvSpPr/>
          <p:nvPr/>
        </p:nvSpPr>
        <p:spPr>
          <a:xfrm rot="2700000">
            <a:off x="841161" y="3990507"/>
            <a:ext cx="109901" cy="109901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143000" y="3872230"/>
            <a:ext cx="10729862" cy="7609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16"/>
              </a:lnSpc>
            </a:pPr>
            <a:r>
              <a:rPr sz="2200" b="1">
                <a:solidFill>
                  <a:srgbClr val="1B2A4A"/>
                </a:solidFill>
                <a:latin typeface="Segoe UI"/>
              </a:rPr>
              <a:t>Qurilmani o‘chirish (Uninstall): </a:t>
            </a:r>
            <a:r>
              <a:rPr sz="2200" b="0">
                <a:solidFill>
                  <a:srgbClr val="1B2A4A"/>
                </a:solidFill>
                <a:latin typeface="Segoe UI"/>
              </a:rPr>
              <a:t>qurilma va drayverni tizimdan olib tashlash; so‘ng</a:t>
            </a:r>
            <a:br/>
            <a:r>
              <a:rPr sz="2200" b="0">
                <a:solidFill>
                  <a:srgbClr val="1B2A4A"/>
                </a:solidFill>
                <a:latin typeface="Segoe UI"/>
              </a:rPr>
              <a:t>qayta skanerlash bilan Windows uni qayta aniqlaydi.</a:t>
            </a:r>
          </a:p>
        </p:txBody>
      </p:sp>
      <p:sp>
        <p:nvSpPr>
          <p:cNvPr id="45" name="Rectangle 44"/>
          <p:cNvSpPr/>
          <p:nvPr/>
        </p:nvSpPr>
        <p:spPr>
          <a:xfrm rot="2700000">
            <a:off x="841161" y="4852075"/>
            <a:ext cx="109901" cy="109901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143000" y="4733798"/>
            <a:ext cx="10729862" cy="7609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16"/>
              </a:lnSpc>
            </a:pPr>
            <a:r>
              <a:rPr sz="2200" b="1">
                <a:solidFill>
                  <a:srgbClr val="1B2A4A"/>
                </a:solidFill>
                <a:latin typeface="Segoe UI"/>
              </a:rPr>
              <a:t>Apparat o‘zgarishlarini skanerlash: </a:t>
            </a:r>
            <a:r>
              <a:rPr sz="2200" b="0">
                <a:solidFill>
                  <a:srgbClr val="1B2A4A"/>
                </a:solidFill>
                <a:latin typeface="Segoe UI"/>
              </a:rPr>
              <a:t>Amal (Action) menyusidagi buyruq, yangi</a:t>
            </a:r>
            <a:br/>
            <a:r>
              <a:rPr sz="2200" b="0">
                <a:solidFill>
                  <a:srgbClr val="1B2A4A"/>
                </a:solidFill>
                <a:latin typeface="Segoe UI"/>
              </a:rPr>
              <a:t>ulangan qurilmalarni qayta qidiradi.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Kompyuter tizimlari · 18-mavzu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10 / 15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9E2A3A"/>
                </a:solidFill>
                <a:latin typeface="Segoe UI"/>
              </a:rPr>
              <a:t>3-REJA · AMALIY MASHQ: QURILMALAR MENEJERIDA MUAMMOLI QURILMANI TOPISH VA DRAYVERNI BOSHQARISH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Qadamba-qadam: muammoli qurilmani tuzatish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 rot="2700000">
            <a:off x="841161" y="1747687"/>
            <a:ext cx="109901" cy="109901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143000" y="1645158"/>
            <a:ext cx="10729862" cy="695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60"/>
              </a:lnSpc>
            </a:pPr>
            <a:r>
              <a:rPr sz="2000" b="0">
                <a:solidFill>
                  <a:srgbClr val="1B2A4A"/>
                </a:solidFill>
                <a:latin typeface="Segoe UI"/>
              </a:rPr>
              <a:t>Win + X → «Qurilmalar menejeri»ni ochish va sariq undov belgili qurilmani qidirish</a:t>
            </a:r>
            <a:br/>
            <a:r>
              <a:rPr sz="2000" b="0">
                <a:solidFill>
                  <a:srgbClr val="1B2A4A"/>
                </a:solidFill>
                <a:latin typeface="Segoe UI"/>
              </a:rPr>
              <a:t>(muammoli toifa avtomatik ochiq bo‘ladi).</a:t>
            </a:r>
          </a:p>
        </p:txBody>
      </p:sp>
      <p:sp>
        <p:nvSpPr>
          <p:cNvPr id="39" name="Rectangle 38"/>
          <p:cNvSpPr/>
          <p:nvPr/>
        </p:nvSpPr>
        <p:spPr>
          <a:xfrm rot="2700000">
            <a:off x="841161" y="2544231"/>
            <a:ext cx="109901" cy="109901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2441702"/>
            <a:ext cx="10729862" cy="370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60"/>
              </a:lnSpc>
            </a:pPr>
            <a:r>
              <a:rPr sz="2000" b="0">
                <a:solidFill>
                  <a:srgbClr val="1B2A4A"/>
                </a:solidFill>
                <a:latin typeface="Segoe UI"/>
              </a:rPr>
              <a:t>Qurilmani ikki marta bosib, Umumiy yorlig‘idagi holat va xatolik kodini yozib olish.</a:t>
            </a:r>
          </a:p>
        </p:txBody>
      </p:sp>
      <p:sp>
        <p:nvSpPr>
          <p:cNvPr id="41" name="Rectangle 40"/>
          <p:cNvSpPr/>
          <p:nvPr/>
        </p:nvSpPr>
        <p:spPr>
          <a:xfrm rot="2700000">
            <a:off x="841161" y="3015655"/>
            <a:ext cx="109901" cy="109901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43000" y="2913126"/>
            <a:ext cx="10729862" cy="370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60"/>
              </a:lnSpc>
            </a:pPr>
            <a:r>
              <a:rPr sz="2000" b="0">
                <a:solidFill>
                  <a:srgbClr val="1B2A4A"/>
                </a:solidFill>
                <a:latin typeface="Segoe UI"/>
              </a:rPr>
              <a:t>Agar qurilma o‘chirilgan bo‘lsa (qora strelka, Code 22) — o‘ng tugma → «Qurilmani yoqish».</a:t>
            </a:r>
          </a:p>
        </p:txBody>
      </p:sp>
      <p:sp>
        <p:nvSpPr>
          <p:cNvPr id="43" name="Rectangle 42"/>
          <p:cNvSpPr/>
          <p:nvPr/>
        </p:nvSpPr>
        <p:spPr>
          <a:xfrm rot="2700000">
            <a:off x="841161" y="3487079"/>
            <a:ext cx="109901" cy="109901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143000" y="3384550"/>
            <a:ext cx="10729862" cy="695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60"/>
              </a:lnSpc>
            </a:pPr>
            <a:r>
              <a:rPr sz="2000" b="0">
                <a:solidFill>
                  <a:srgbClr val="1B2A4A"/>
                </a:solidFill>
                <a:latin typeface="Segoe UI"/>
              </a:rPr>
              <a:t>Drayver yorlig‘ida «Drayverni yangilash» → «Drayverlarni avtomatik qidirish» buyrug‘ini</a:t>
            </a:r>
            <a:br/>
            <a:r>
              <a:rPr sz="2000" b="0">
                <a:solidFill>
                  <a:srgbClr val="1B2A4A"/>
                </a:solidFill>
                <a:latin typeface="Segoe UI"/>
              </a:rPr>
              <a:t>tanlash.</a:t>
            </a:r>
          </a:p>
        </p:txBody>
      </p:sp>
      <p:sp>
        <p:nvSpPr>
          <p:cNvPr id="45" name="Rectangle 44"/>
          <p:cNvSpPr/>
          <p:nvPr/>
        </p:nvSpPr>
        <p:spPr>
          <a:xfrm rot="2700000">
            <a:off x="841161" y="4283623"/>
            <a:ext cx="109901" cy="109901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143000" y="4181094"/>
            <a:ext cx="10729862" cy="695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60"/>
              </a:lnSpc>
            </a:pPr>
            <a:r>
              <a:rPr sz="2000" b="0">
                <a:solidFill>
                  <a:srgbClr val="1B2A4A"/>
                </a:solidFill>
                <a:latin typeface="Segoe UI"/>
              </a:rPr>
              <a:t>Yordam bermasa — «Qurilmani o‘chirish» buyrug‘ini bajarish, so‘ng Amal → «Apparat</a:t>
            </a:r>
            <a:br/>
            <a:r>
              <a:rPr sz="2000" b="0">
                <a:solidFill>
                  <a:srgbClr val="1B2A4A"/>
                </a:solidFill>
                <a:latin typeface="Segoe UI"/>
              </a:rPr>
              <a:t>o‘zgarishlarini skanerlash».</a:t>
            </a:r>
          </a:p>
        </p:txBody>
      </p:sp>
      <p:sp>
        <p:nvSpPr>
          <p:cNvPr id="47" name="Rectangle 46"/>
          <p:cNvSpPr/>
          <p:nvPr/>
        </p:nvSpPr>
        <p:spPr>
          <a:xfrm rot="2700000">
            <a:off x="841161" y="5080167"/>
            <a:ext cx="109901" cy="109901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143000" y="4977638"/>
            <a:ext cx="10729862" cy="695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60"/>
              </a:lnSpc>
            </a:pPr>
            <a:r>
              <a:rPr sz="2000" b="0">
                <a:solidFill>
                  <a:srgbClr val="1B2A4A"/>
                </a:solidFill>
                <a:latin typeface="Segoe UI"/>
              </a:rPr>
              <a:t>Noma’lum qurilma bo‘lsa — Tafsilotlar → Apparat identifikatorlari qiymatidan VEN va DEV</a:t>
            </a:r>
            <a:br/>
            <a:r>
              <a:rPr sz="2000" b="0">
                <a:solidFill>
                  <a:srgbClr val="1B2A4A"/>
                </a:solidFill>
                <a:latin typeface="Segoe UI"/>
              </a:rPr>
              <a:t>kodlarini yozib olib, ishlab chiqaruvchi saytidan mos…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Kompyuter tizimlari · 18-mavzu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11 / 15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9E2A3A"/>
                </a:solidFill>
                <a:latin typeface="Segoe UI"/>
              </a:rPr>
              <a:t>3-REJA · AMALIY MASHQ: QURILMALAR MENEJERIDA MUAMMOLI QURILMANI TOPISH VA DRAYVERNI BOSHQARISH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Xavfsizlik va ehtiyot choralari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185623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700" b="0">
                <a:solidFill>
                  <a:srgbClr val="3A4560"/>
                </a:solidFill>
                <a:latin typeface="Segoe UI"/>
              </a:rPr>
              <a:t>Qurilmalar menejerida noto‘g‘ri harakat kompyuterni ishlamaydigan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holatga keltirishi mumkin. Disk kontrollerlari, protsessor va tizim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qurilmalari toifasidagi qurilmalarni o‘chirish yoki o‘chirib qo‘yish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taqiqlanadi.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Kompyuter tizimlari · 18-mavzu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12 / 15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9E2A3A"/>
                </a:solidFill>
                <a:latin typeface="Segoe UI"/>
              </a:rPr>
              <a:t>3-REJA · AMALIY MASHQ: QURILMALAR MENEJERIDA MUAMMOLI QURILMANI TOPISH VA DRAYVERNI BOSHQARISH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Tipik xatolar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51892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4914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700" b="0">
                <a:solidFill>
                  <a:srgbClr val="3A4560"/>
                </a:solidFill>
                <a:latin typeface="Segoe UI"/>
              </a:rPr>
              <a:t>AMALIY TOPSHIRIQ</a:t>
            </a:r>
          </a:p>
        </p:txBody>
      </p:sp>
      <p:sp>
        <p:nvSpPr>
          <p:cNvPr id="39" name="Rectangle 38"/>
          <p:cNvSpPr/>
          <p:nvPr/>
        </p:nvSpPr>
        <p:spPr>
          <a:xfrm rot="2700000">
            <a:off x="841161" y="2441869"/>
            <a:ext cx="109901" cy="109901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2292096"/>
            <a:ext cx="10729862" cy="891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1">
                <a:solidFill>
                  <a:srgbClr val="1B2A4A"/>
                </a:solidFill>
                <a:latin typeface="Segoe UI"/>
              </a:rPr>
              <a:t>Yangilashdan keyin ekran xiralashdi: </a:t>
            </a:r>
            <a:r>
              <a:rPr sz="2600" b="0">
                <a:solidFill>
                  <a:srgbClr val="1B2A4A"/>
                </a:solidFill>
                <a:latin typeface="Segoe UI"/>
              </a:rPr>
              <a:t>videodrayver mos kelmadi;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Displey adapterlari → Xossalar → Drayver → «Orqaga qaytarish».</a:t>
            </a:r>
          </a:p>
        </p:txBody>
      </p:sp>
      <p:sp>
        <p:nvSpPr>
          <p:cNvPr id="41" name="Rectangle 40"/>
          <p:cNvSpPr/>
          <p:nvPr/>
        </p:nvSpPr>
        <p:spPr>
          <a:xfrm rot="2700000">
            <a:off x="841161" y="3433485"/>
            <a:ext cx="109901" cy="109901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43000" y="3283712"/>
            <a:ext cx="10729862" cy="891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1">
                <a:solidFill>
                  <a:srgbClr val="1B2A4A"/>
                </a:solidFill>
                <a:latin typeface="Segoe UI"/>
              </a:rPr>
              <a:t>«Orqaga qaytarish» tugmasi faol emas: </a:t>
            </a:r>
            <a:r>
              <a:rPr sz="2600" b="0">
                <a:solidFill>
                  <a:srgbClr val="1B2A4A"/>
                </a:solidFill>
                <a:latin typeface="Segoe UI"/>
              </a:rPr>
              <a:t>oldingi drayver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saqlanmagan; ishlab chiqaruvchi saytidan kerakli versiyani yuklang.</a:t>
            </a:r>
          </a:p>
        </p:txBody>
      </p:sp>
      <p:sp>
        <p:nvSpPr>
          <p:cNvPr id="43" name="Rectangle 42"/>
          <p:cNvSpPr/>
          <p:nvPr/>
        </p:nvSpPr>
        <p:spPr>
          <a:xfrm rot="2700000">
            <a:off x="841161" y="4425101"/>
            <a:ext cx="109901" cy="109901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143000" y="4275328"/>
            <a:ext cx="10729862" cy="13136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1">
                <a:solidFill>
                  <a:srgbClr val="1B2A4A"/>
                </a:solidFill>
                <a:latin typeface="Segoe UI"/>
              </a:rPr>
              <a:t>Sichqonchani o‘chirib qo‘ydi va kursor yo‘qoldi: </a:t>
            </a:r>
            <a:r>
              <a:rPr sz="2600" b="0">
                <a:solidFill>
                  <a:srgbClr val="1B2A4A"/>
                </a:solidFill>
                <a:latin typeface="Segoe UI"/>
              </a:rPr>
              <a:t>klaviatura bilan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boshqaring: Tab va strelkalar bilan qurilmani tanlab, Shift + F10 orqali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kontekst menyusini oching va qurilmani yoqing.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Kompyuter tizimlari · 18-mavzu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13 / 15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9E2A3A"/>
                </a:solidFill>
                <a:latin typeface="Segoe UI"/>
              </a:rPr>
              <a:t>18-MAVZU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Asosiy atamalar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31520" y="1645158"/>
            <a:ext cx="5204307" cy="1310894"/>
          </a:xfrm>
          <a:prstGeom prst="roundRect">
            <a:avLst>
              <a:gd name="adj" fmla="val 5580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31520" y="1645158"/>
            <a:ext cx="73152" cy="1310894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05840" y="1809750"/>
            <a:ext cx="4936991" cy="33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300"/>
              </a:lnSpc>
            </a:pPr>
            <a:r>
              <a:rPr sz="2000" b="1">
                <a:solidFill>
                  <a:srgbClr val="1B2A4A"/>
                </a:solidFill>
                <a:latin typeface="Georgia"/>
              </a:rPr>
              <a:t>Apparat o‘zgarishlarini skanerlash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05840" y="2193290"/>
            <a:ext cx="4936991" cy="6070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10"/>
              </a:lnSpc>
            </a:pPr>
            <a:r>
              <a:rPr sz="1700" b="0">
                <a:solidFill>
                  <a:srgbClr val="3A4560"/>
                </a:solidFill>
                <a:latin typeface="Segoe UI"/>
              </a:rPr>
              <a:t>Amal (Action) menyusidagi buyruq, yangi</a:t>
            </a:r>
            <a:br/>
            <a:r>
              <a:rPr sz="1700" b="0">
                <a:solidFill>
                  <a:srgbClr val="3A4560"/>
                </a:solidFill>
                <a:latin typeface="Segoe UI"/>
              </a:rPr>
              <a:t>ulangan qurilmalarni qayta qidiradi.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255867" y="1645158"/>
            <a:ext cx="5204307" cy="1310894"/>
          </a:xfrm>
          <a:prstGeom prst="roundRect">
            <a:avLst>
              <a:gd name="adj" fmla="val 5580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255867" y="1645158"/>
            <a:ext cx="73152" cy="1310894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30187" y="1809750"/>
            <a:ext cx="4936991" cy="33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300"/>
              </a:lnSpc>
            </a:pPr>
            <a:r>
              <a:rPr sz="2000" b="1">
                <a:solidFill>
                  <a:srgbClr val="1B2A4A"/>
                </a:solidFill>
                <a:latin typeface="Georgia"/>
              </a:rPr>
              <a:t>Boshqaruv paneli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30187" y="2193290"/>
            <a:ext cx="4936991" cy="6070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10"/>
              </a:lnSpc>
            </a:pPr>
            <a:r>
              <a:rPr sz="1700" b="0">
                <a:solidFill>
                  <a:srgbClr val="3A4560"/>
                </a:solidFill>
                <a:latin typeface="Segoe UI"/>
              </a:rPr>
              <a:t>Apparat va ovoz → Qurilmalar va printerlar</a:t>
            </a:r>
            <a:br/>
            <a:r>
              <a:rPr sz="1700" b="0">
                <a:solidFill>
                  <a:srgbClr val="3A4560"/>
                </a:solidFill>
                <a:latin typeface="Segoe UI"/>
              </a:rPr>
              <a:t>bo‘limi ostidagi «Qurilmalar menejeri» havolasi.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31520" y="3184652"/>
            <a:ext cx="5204307" cy="1310894"/>
          </a:xfrm>
          <a:prstGeom prst="roundRect">
            <a:avLst>
              <a:gd name="adj" fmla="val 5580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731520" y="3184652"/>
            <a:ext cx="73152" cy="1310894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005840" y="3349244"/>
            <a:ext cx="4936991" cy="3524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15"/>
              </a:lnSpc>
            </a:pPr>
            <a:r>
              <a:rPr sz="2100" b="1">
                <a:solidFill>
                  <a:srgbClr val="1B2A4A"/>
                </a:solidFill>
                <a:latin typeface="Georgia"/>
              </a:rPr>
              <a:t>Drayverni yangilash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05840" y="3747389"/>
            <a:ext cx="4936991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340"/>
              </a:lnSpc>
            </a:pPr>
            <a:r>
              <a:rPr sz="1800" b="0">
                <a:solidFill>
                  <a:srgbClr val="3A4560"/>
                </a:solidFill>
                <a:latin typeface="Segoe UI"/>
              </a:rPr>
              <a:t>Avtomatik qidirish yoki kompyuterdagi</a:t>
            </a:r>
            <a:br/>
            <a:r>
              <a:rPr sz="1800" b="0">
                <a:solidFill>
                  <a:srgbClr val="3A4560"/>
                </a:solidFill>
                <a:latin typeface="Segoe UI"/>
              </a:rPr>
              <a:t>papkadan drayverni ko‘rsatish.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255867" y="3184652"/>
            <a:ext cx="5204307" cy="1310894"/>
          </a:xfrm>
          <a:prstGeom prst="roundRect">
            <a:avLst>
              <a:gd name="adj" fmla="val 5580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255867" y="3184652"/>
            <a:ext cx="73152" cy="1310894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530187" y="3349244"/>
            <a:ext cx="4936991" cy="3524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15"/>
              </a:lnSpc>
            </a:pPr>
            <a:r>
              <a:rPr sz="2100" b="1">
                <a:solidFill>
                  <a:srgbClr val="1B2A4A"/>
                </a:solidFill>
                <a:latin typeface="Georgia"/>
              </a:rPr>
              <a:t>Kompyuterni boshqarish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530187" y="3747389"/>
            <a:ext cx="4936991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340"/>
              </a:lnSpc>
            </a:pPr>
            <a:r>
              <a:rPr sz="1800" b="0">
                <a:solidFill>
                  <a:srgbClr val="3A4560"/>
                </a:solidFill>
                <a:latin typeface="Segoe UI"/>
              </a:rPr>
              <a:t>Win + R → compmgmt.msc → chap paneldagi</a:t>
            </a:r>
            <a:br/>
            <a:r>
              <a:rPr sz="1800" b="0">
                <a:solidFill>
                  <a:srgbClr val="3A4560"/>
                </a:solidFill>
                <a:latin typeface="Segoe UI"/>
              </a:rPr>
              <a:t>«Qurilmalar menejeri».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731520" y="4724146"/>
            <a:ext cx="5204307" cy="1310894"/>
          </a:xfrm>
          <a:prstGeom prst="roundRect">
            <a:avLst>
              <a:gd name="adj" fmla="val 5580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731520" y="4724146"/>
            <a:ext cx="73152" cy="1310894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005840" y="4888738"/>
            <a:ext cx="4936991" cy="32321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85"/>
              </a:lnSpc>
            </a:pPr>
            <a:r>
              <a:rPr sz="1900" b="1">
                <a:solidFill>
                  <a:srgbClr val="1B2A4A"/>
                </a:solidFill>
                <a:latin typeface="Georgia"/>
              </a:rPr>
              <a:t>Qurilmani o‘chirish (Uninstall)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05840" y="5257673"/>
            <a:ext cx="4936991" cy="574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80"/>
              </a:lnSpc>
            </a:pPr>
            <a:r>
              <a:rPr sz="1600" b="0">
                <a:solidFill>
                  <a:srgbClr val="3A4560"/>
                </a:solidFill>
                <a:latin typeface="Segoe UI"/>
              </a:rPr>
              <a:t>Qurilma va drayverni tizimdan olib tashlash; so‘ng</a:t>
            </a:r>
            <a:br/>
            <a:r>
              <a:rPr sz="1600" b="0">
                <a:solidFill>
                  <a:srgbClr val="3A4560"/>
                </a:solidFill>
                <a:latin typeface="Segoe UI"/>
              </a:rPr>
              <a:t>qayta skanerlash bilan Windows uni qayta aniqlaydi.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6255867" y="4724146"/>
            <a:ext cx="5204307" cy="1310894"/>
          </a:xfrm>
          <a:prstGeom prst="roundRect">
            <a:avLst>
              <a:gd name="adj" fmla="val 5580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6255867" y="4724146"/>
            <a:ext cx="73152" cy="1310894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530187" y="4888738"/>
            <a:ext cx="4936991" cy="36702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29"/>
              </a:lnSpc>
            </a:pPr>
            <a:r>
              <a:rPr sz="2200" b="1">
                <a:solidFill>
                  <a:srgbClr val="1B2A4A"/>
                </a:solidFill>
                <a:latin typeface="Georgia"/>
              </a:rPr>
              <a:t>Win + R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530187" y="5301487"/>
            <a:ext cx="4936991" cy="3594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0"/>
              </a:lnSpc>
            </a:pPr>
            <a:r>
              <a:rPr sz="1900" b="0">
                <a:solidFill>
                  <a:srgbClr val="3A4560"/>
                </a:solidFill>
                <a:latin typeface="Segoe UI"/>
              </a:rPr>
              <a:t>→ devmgmt.msc → Enter.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Kompyuter tizimlari · 18-mavzu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14 / 15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9E2A3A"/>
                </a:solidFill>
                <a:latin typeface="Segoe UI"/>
              </a:rPr>
              <a:t>18-MAVZU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Mustahkamlash uchun savollar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45283" y="1720821"/>
            <a:ext cx="284537" cy="28453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 rot="2700000">
            <a:off x="845283" y="1720821"/>
            <a:ext cx="284537" cy="28453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86384" y="175336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417320" y="164515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Qurilmalar menejerini qanday usullar bilan ochish mumkin?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45283" y="2332961"/>
            <a:ext cx="284537" cy="28453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 rot="2700000">
            <a:off x="845283" y="2332961"/>
            <a:ext cx="284537" cy="28453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86384" y="236550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417320" y="225729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Sariq undov belgisi va qora strelka nimani bildiradi?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45283" y="2945101"/>
            <a:ext cx="284537" cy="28453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 rot="2700000">
            <a:off x="845283" y="2945101"/>
            <a:ext cx="284537" cy="28453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86384" y="297764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417320" y="286943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Code 28 va Code 43 xatoliklari nimani anglatadi?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45283" y="3557241"/>
            <a:ext cx="284537" cy="28453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 rot="2700000">
            <a:off x="845283" y="3557241"/>
            <a:ext cx="284537" cy="28453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86384" y="358978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4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417320" y="348157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Noma’lum qurilmaning modelini qanday aniqlash mumkin?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45283" y="4169381"/>
            <a:ext cx="284537" cy="28453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 rot="2700000">
            <a:off x="845283" y="4169381"/>
            <a:ext cx="284537" cy="28453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86384" y="420192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5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417320" y="409371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«Drayverni orqaga qaytarish» buyrug‘i qachon ishlatiladi?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Kompyuter tizimlari · 18-mavzu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15 / 15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1505" y="1625937"/>
            <a:ext cx="1228684" cy="1228684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 rot="2700000">
            <a:off x="5481505" y="1625937"/>
            <a:ext cx="1228684" cy="1228684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740175" y="1884608"/>
            <a:ext cx="711343" cy="711343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 rot="2700000">
            <a:off x="5740175" y="1884608"/>
            <a:ext cx="711343" cy="711343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31520" y="3429000"/>
            <a:ext cx="11157801" cy="680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5000"/>
              </a:lnSpc>
            </a:pPr>
            <a:r>
              <a:rPr sz="4000" b="1">
                <a:solidFill>
                  <a:srgbClr val="1B2A4A"/>
                </a:solidFill>
                <a:latin typeface="Georgia"/>
              </a:rPr>
              <a:t>E’tiboringiz uchun rahmat!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1520" y="4251960"/>
            <a:ext cx="11157801" cy="363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500"/>
              </a:lnSpc>
            </a:pPr>
            <a:r>
              <a:rPr sz="2000" b="0">
                <a:solidFill>
                  <a:srgbClr val="3A4560"/>
                </a:solidFill>
                <a:latin typeface="Segoe UI"/>
              </a:rPr>
              <a:t>Savollaringiz bo‘lsa, marhamat.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1520" y="4892040"/>
            <a:ext cx="11157801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1600" b="1">
                <a:solidFill>
                  <a:srgbClr val="9E2A3A"/>
                </a:solidFill>
                <a:latin typeface="Segoe UI"/>
              </a:rPr>
              <a:t>Oydin Tashtemirova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18-mavzu. Qurilmalar holatini Device Manager orqali tekshirish</dc:title>
  <dc:subject/>
  <dc:creator>Oydin Tashtemirova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