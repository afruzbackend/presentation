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13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C2562D"/>
                </a:solidFill>
                <a:latin typeface="Georgia"/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Nazariy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C2562D"/>
                </a:solidFill>
                <a:latin typeface="Segoe UI"/>
              </a:rPr>
              <a:t>KOMPYUTER TIZIMLARI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75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Kompyuter tizimlarida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axborot xavfsizligi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asoslari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3467735"/>
            <a:ext cx="1097280" cy="54864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787774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417842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448970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3-MAVZU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207949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Axborot xavfsizligi tushunchasi va uning asosiy tamoyillari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35965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Kompyuter tizimlariga tahdidlar turlari: zararli dasturlar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va ijtimoiy muhandislik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482269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Axborotni himoya qilishning tashkiliy, dasturiy va huquqiy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choralari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3-MAVZU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C2562D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2720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O‘quvchilarga axborot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xavfsizligining mohiyati, uning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asosiy tamoyillari, kompyuter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tizimlariga tahdid turlari va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himoya choralari haqida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nazariy bilim berish.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2720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Axborot xavfsizligining uch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asosiy tamoyilini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tushuntiradilar, zararli dastur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va fishing belgilarini taniydilar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hamda asosiy himoya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choralarini sanab bera oladilar.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1-REJA · AXBOROT XAVFSIZLIGI TUSHUNCHASI VA UNING ASOSIY TAMOYILLARI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Axborot xavfsizligi nima?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4104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383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Axborot xavfsizligi — axborot va uni qayta ishlovchi tizimlarni ruxsatsiz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foydalanish, o‘zgartirish, yo‘q qilish yoki ishdan chiqarishdan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himoyalangan holati.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1-REJA · AXBOROT XAVFSIZLIGI TUSHUNCHASI VA UNING ASOSIY TAMOYILLARI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Asosiy tamoyillar (CIA uchligi)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01422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986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Uch tamoyildan birortasi buzilsa, xavfsizlik buzilgan hisoblanadi. Masalan, fayl sir saqlangan va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o‘zgarmagan bo‘lsa ham, disk ishdan chiqib unga kirib bo‘lmasa — foydalanuvchanlik buzilgan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bo‘ladi.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814828"/>
          <a:ext cx="10728654" cy="28428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1997"/>
                <a:gridCol w="3791329"/>
                <a:gridCol w="4275328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Tamoyil</a:t>
                      </a:r>
                    </a:p>
                  </a:txBody>
                  <a:tcPr marL="109728" marR="109728" marT="73152" marB="73152">
                    <a:solidFill>
                      <a:srgbClr val="C256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Mazmuni</a:t>
                      </a:r>
                    </a:p>
                  </a:txBody>
                  <a:tcPr marL="109728" marR="109728" marT="73152" marB="73152">
                    <a:solidFill>
                      <a:srgbClr val="C256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Misol</a:t>
                      </a:r>
                    </a:p>
                  </a:txBody>
                  <a:tcPr marL="109728" marR="109728" marT="73152" marB="73152">
                    <a:solidFill>
                      <a:srgbClr val="C2562D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Konfidensiallik (Confidentiality)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Axborotni faqat ruxsat etilgan shaxslar ko‘radi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O‘quvchi boshqa o‘quvchining baholarini ko‘ra olmaydi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Yaxlitlik (Integrity)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Axborot ruxsatsiz o‘zgartirilmaydi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Jurnaldagi baho o‘zboshimchalik bilan tuzatilmaydi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Foydalanuvchanlik (Availability)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Axborot kerakli paytda foydalanishga tayyor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Server ishlaydi, fayllar ochiladi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2-REJA · KOMPYUTER TIZIMLARIGA TAHDIDLAR TURLARI: ZARARLI DASTURLAR VA IJTIMOIY MUHANDISLIK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Zararli dasturlar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83261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805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90"/>
              </a:lnSpc>
            </a:pPr>
            <a:r>
              <a:rPr sz="2300" b="0">
                <a:solidFill>
                  <a:srgbClr val="3A4560"/>
                </a:solidFill>
                <a:latin typeface="Segoe UI"/>
              </a:rPr>
              <a:t>Zararli dastur (malware) — foydalanuvchi bilmagan holda kompyuterga zarar</a:t>
            </a:r>
            <a:br/>
            <a:r>
              <a:rPr sz="2300" b="0">
                <a:solidFill>
                  <a:srgbClr val="3A4560"/>
                </a:solidFill>
                <a:latin typeface="Segoe UI"/>
              </a:rPr>
              <a:t>yetkazish, ma’lumot o‘g‘irlash yoki tizimni boshqarish uchun yaratilgan dastur.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724063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605786"/>
            <a:ext cx="10729862" cy="40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Virus: </a:t>
            </a:r>
            <a:r>
              <a:rPr sz="2200" b="0">
                <a:solidFill>
                  <a:srgbClr val="1B2A4A"/>
                </a:solidFill>
                <a:latin typeface="Segoe UI"/>
              </a:rPr>
              <a:t>boshqa fayllarga o‘zini yozib ko‘payadi, fayl ishga tushirilganda faollashadi.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227999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109722"/>
            <a:ext cx="10729862" cy="40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Chuvalchang (worm): </a:t>
            </a:r>
            <a:r>
              <a:rPr sz="2200" b="0">
                <a:solidFill>
                  <a:srgbClr val="1B2A4A"/>
                </a:solidFill>
                <a:latin typeface="Segoe UI"/>
              </a:rPr>
              <a:t>tarmoq orqali o‘zi mustaqil tarqaladi.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3731935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3613658"/>
            <a:ext cx="10729862" cy="40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Troyan: </a:t>
            </a:r>
            <a:r>
              <a:rPr sz="2200" b="0">
                <a:solidFill>
                  <a:srgbClr val="1B2A4A"/>
                </a:solidFill>
                <a:latin typeface="Segoe UI"/>
              </a:rPr>
              <a:t>foydali dastur (o‘yin, «kreker») ko‘rinishida kirib, yashirin harakat qiladi.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4235871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117594"/>
            <a:ext cx="10729862" cy="760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To‘lov talab qiluvchi dastur (ransomware): </a:t>
            </a:r>
            <a:r>
              <a:rPr sz="2200" b="0">
                <a:solidFill>
                  <a:srgbClr val="1B2A4A"/>
                </a:solidFill>
                <a:latin typeface="Segoe UI"/>
              </a:rPr>
              <a:t>fayllarni shifrlab, ochish uchun pul</a:t>
            </a:r>
            <a:br/>
            <a:r>
              <a:rPr sz="2200" b="0">
                <a:solidFill>
                  <a:srgbClr val="1B2A4A"/>
                </a:solidFill>
                <a:latin typeface="Segoe UI"/>
              </a:rPr>
              <a:t>talab qiladi.</a:t>
            </a:r>
          </a:p>
        </p:txBody>
      </p:sp>
      <p:sp>
        <p:nvSpPr>
          <p:cNvPr id="47" name="Rectangle 46"/>
          <p:cNvSpPr/>
          <p:nvPr/>
        </p:nvSpPr>
        <p:spPr>
          <a:xfrm rot="2700000">
            <a:off x="841161" y="5097439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43000" y="4979162"/>
            <a:ext cx="10729862" cy="760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Josus dastur (spyware) va klaviatura josusi (keylogger): </a:t>
            </a:r>
            <a:r>
              <a:rPr sz="2200" b="0">
                <a:solidFill>
                  <a:srgbClr val="1B2A4A"/>
                </a:solidFill>
                <a:latin typeface="Segoe UI"/>
              </a:rPr>
              <a:t>parollar va bosilgan</a:t>
            </a:r>
            <a:br/>
            <a:r>
              <a:rPr sz="2200" b="0">
                <a:solidFill>
                  <a:srgbClr val="1B2A4A"/>
                </a:solidFill>
                <a:latin typeface="Segoe UI"/>
              </a:rPr>
              <a:t>tugmalarni yashirincha yig‘adi.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2-REJA · KOMPYUTER TIZIMLARIGA TAHDIDLAR TURLARI: ZARARLI DASTURLAR VA IJTIMOIY MUHANDISLIK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Ijtimoiy muhandislik va fishing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72415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696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sz="2500" b="0">
                <a:solidFill>
                  <a:srgbClr val="3A4560"/>
                </a:solidFill>
                <a:latin typeface="Segoe UI"/>
              </a:rPr>
              <a:t>Ijtimoiy muhandislik — texnik himoyani buzish o‘rniga insonning ishonchi,</a:t>
            </a:r>
            <a:br/>
            <a:r>
              <a:rPr sz="2500" b="0">
                <a:solidFill>
                  <a:srgbClr val="3A4560"/>
                </a:solidFill>
                <a:latin typeface="Segoe UI"/>
              </a:rPr>
              <a:t>qo‘rquvi yoki shoshqaloqligidan foydalanish. Uning eng keng tarqalgan</a:t>
            </a:r>
            <a:br/>
            <a:r>
              <a:rPr sz="2500" b="0">
                <a:solidFill>
                  <a:srgbClr val="3A4560"/>
                </a:solidFill>
                <a:latin typeface="Segoe UI"/>
              </a:rPr>
              <a:t>ko‘rinishi — fishing: soxta xat, SMS yoki Telegram xabari orqali parol,</a:t>
            </a:r>
            <a:br/>
            <a:r>
              <a:rPr sz="2500" b="0">
                <a:solidFill>
                  <a:srgbClr val="3A4560"/>
                </a:solidFill>
                <a:latin typeface="Segoe UI"/>
              </a:rPr>
              <a:t>SMS-kod yoki karta ma’lumotlarini so‘rash.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3631351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3497326"/>
            <a:ext cx="10729862" cy="435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1">
                <a:solidFill>
                  <a:srgbClr val="1B2A4A"/>
                </a:solidFill>
                <a:latin typeface="Segoe UI"/>
              </a:rPr>
              <a:t>Shoshirish: </a:t>
            </a:r>
            <a:r>
              <a:rPr sz="2400" b="0">
                <a:solidFill>
                  <a:srgbClr val="1B2A4A"/>
                </a:solidFill>
                <a:latin typeface="Segoe UI"/>
              </a:rPr>
              <a:t>«Hisobingiz 1 soatda bloklanadi!».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4167799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4033774"/>
            <a:ext cx="10729862" cy="435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1">
                <a:solidFill>
                  <a:srgbClr val="1B2A4A"/>
                </a:solidFill>
                <a:latin typeface="Segoe UI"/>
              </a:rPr>
              <a:t>Haddan tashqari foydali taklif: </a:t>
            </a:r>
            <a:r>
              <a:rPr sz="2400" b="0">
                <a:solidFill>
                  <a:srgbClr val="1B2A4A"/>
                </a:solidFill>
                <a:latin typeface="Segoe UI"/>
              </a:rPr>
              <a:t>«Siz telefon yutib oldingiz».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704247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570222"/>
            <a:ext cx="10729862" cy="435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0">
                <a:solidFill>
                  <a:srgbClr val="1B2A4A"/>
                </a:solidFill>
                <a:latin typeface="Segoe UI"/>
              </a:rPr>
              <a:t>Manzili rasmiy saytga juda o‘xshash, ammo bitta harfi farq qiladigan havola.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5240695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5106670"/>
            <a:ext cx="10729862" cy="826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0">
                <a:solidFill>
                  <a:srgbClr val="1B2A4A"/>
                </a:solidFill>
                <a:latin typeface="Segoe UI"/>
              </a:rPr>
              <a:t>SMS-kod yoki parolni yuborishni so‘rash — haqiqiy bank yoki xizmat hech</a:t>
            </a:r>
            <a:br/>
            <a:r>
              <a:rPr sz="2400" b="0">
                <a:solidFill>
                  <a:srgbClr val="1B2A4A"/>
                </a:solidFill>
                <a:latin typeface="Segoe UI"/>
              </a:rPr>
              <a:t>qachon bunday qilmaydi.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3-REJA · AXBOROTNI HIMOYA QILISHNING TASHKILIY, DASTURIY VA HUQUQIY CHORALARI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Himoya choralari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731520" y="1645158"/>
          <a:ext cx="10728654" cy="24225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6028"/>
                <a:gridCol w="8732626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Chora turi</a:t>
                      </a:r>
                    </a:p>
                  </a:txBody>
                  <a:tcPr marL="109728" marR="109728" marT="73152" marB="73152">
                    <a:solidFill>
                      <a:srgbClr val="C256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Misollar</a:t>
                      </a:r>
                    </a:p>
                  </a:txBody>
                  <a:tcPr marL="109728" marR="109728" marT="73152" marB="73152">
                    <a:solidFill>
                      <a:srgbClr val="C2562D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Tashkiliy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Foydalanuvchilarga huquq berish tartibi, xavfsizlik bo‘yicha…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Dasturiy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Antivirus, tarmoqlararo ekran (firewall), tizim yangilanishlari…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Texnik (apparat)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Uzluksiz quvvat manbai (UPS), qulflanadigan server shkafi, zaxira disk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Huquqiy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Qonunlar, ichki nizomlar, maxfiylik majburiyati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3-REJA · AXBOROTNI HIMOYA QILISHNING TASHKILIY, DASTURIY VA HUQUQIY CHORALARI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Har bir foydalanuvchi uchun oddiy qoidalar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79183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826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0">
                <a:solidFill>
                  <a:srgbClr val="1B2A4A"/>
                </a:solidFill>
                <a:latin typeface="Segoe UI"/>
              </a:rPr>
              <a:t>Kamida 12 belgili, harf, raqam va belgilardan iborat murakkab parol tanlash;</a:t>
            </a:r>
            <a:br/>
            <a:r>
              <a:rPr sz="2400" b="0">
                <a:solidFill>
                  <a:srgbClr val="1B2A4A"/>
                </a:solidFill>
                <a:latin typeface="Segoe UI"/>
              </a:rPr>
              <a:t>turli xizmatlar uchun turli parol ishlatish.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705775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571750"/>
            <a:ext cx="10729862" cy="435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0">
                <a:solidFill>
                  <a:srgbClr val="1B2A4A"/>
                </a:solidFill>
                <a:latin typeface="Segoe UI"/>
              </a:rPr>
              <a:t>Imkon bo‘lgan joyda ikki bosqichli autentifikatsiyani (2FA) yoqish.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242223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108198"/>
            <a:ext cx="10729862" cy="435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0">
                <a:solidFill>
                  <a:srgbClr val="1B2A4A"/>
                </a:solidFill>
                <a:latin typeface="Segoe UI"/>
              </a:rPr>
              <a:t>Operatsion tizim va dasturlarni o‘z vaqtida yangilash.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3778671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3644646"/>
            <a:ext cx="10729862" cy="435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0">
                <a:solidFill>
                  <a:srgbClr val="1B2A4A"/>
                </a:solidFill>
                <a:latin typeface="Segoe UI"/>
              </a:rPr>
              <a:t>Dasturlarni faqat rasmiy manbalardan o‘rnatish.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4315119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181094"/>
            <a:ext cx="10729862" cy="826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0">
                <a:solidFill>
                  <a:srgbClr val="1B2A4A"/>
                </a:solidFill>
                <a:latin typeface="Segoe UI"/>
              </a:rPr>
              <a:t>Muhim fayllarni «3-2-1» qoidasi bo‘yicha zaxiralash: 3 nusxa, 2 xil</a:t>
            </a:r>
            <a:br/>
            <a:r>
              <a:rPr sz="2400" b="0">
                <a:solidFill>
                  <a:srgbClr val="1B2A4A"/>
                </a:solidFill>
                <a:latin typeface="Segoe UI"/>
              </a:rPr>
              <a:t>tashuvchida, 1 tasi boshqa joyda.</a:t>
            </a:r>
          </a:p>
        </p:txBody>
      </p:sp>
      <p:sp>
        <p:nvSpPr>
          <p:cNvPr id="47" name="Rectangle 46"/>
          <p:cNvSpPr/>
          <p:nvPr/>
        </p:nvSpPr>
        <p:spPr>
          <a:xfrm rot="2700000">
            <a:off x="841161" y="5241711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43000" y="5107686"/>
            <a:ext cx="10729862" cy="435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0">
                <a:solidFill>
                  <a:srgbClr val="1B2A4A"/>
                </a:solidFill>
                <a:latin typeface="Segoe UI"/>
              </a:rPr>
              <a:t>Kompyuterdan uzoqlashganda ekranni «Win + L» tugmalari bilan qulflash.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3-REJA · AXBOROTNI HIMOYA QILISHNING TASHKILIY, DASTURIY VA HUQUQIY CHORALARI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Huquqiy asoslar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4104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383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O‘zbekistonda axborot xavfsizligi masalalari «Axborotlashtirish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to‘g‘risida»gi, «Kiberxavfsizlik to‘g‘risida»gi va «Shaxsga doir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ma’lumotlar to‘g‘risida»gi qonunlar bilan tartibga solinadi.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11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3-MAVZU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Asosiy atamalar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73152" cy="1310894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1809750"/>
            <a:ext cx="4936991" cy="2940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4"/>
              </a:lnSpc>
            </a:pPr>
            <a:r>
              <a:rPr sz="1700" b="1">
                <a:solidFill>
                  <a:srgbClr val="1B2A4A"/>
                </a:solidFill>
                <a:latin typeface="Georgia"/>
              </a:rPr>
              <a:t>Axborot xavfsizligi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2149475"/>
            <a:ext cx="4936991" cy="739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sz="1400" b="0">
                <a:solidFill>
                  <a:srgbClr val="3A4560"/>
                </a:solidFill>
                <a:latin typeface="Segoe UI"/>
              </a:rPr>
              <a:t>Axborot va uni qayta ishlovchi tizimlarni ruxsatsiz</a:t>
            </a:r>
            <a:br/>
            <a:r>
              <a:rPr sz="1400" b="0">
                <a:solidFill>
                  <a:srgbClr val="3A4560"/>
                </a:solidFill>
                <a:latin typeface="Segoe UI"/>
              </a:rPr>
              <a:t>foydalanish, o‘zgartirish, yo‘q qilish yoki ishdan</a:t>
            </a:r>
            <a:br/>
            <a:r>
              <a:rPr sz="1400" b="0">
                <a:solidFill>
                  <a:srgbClr val="3A4560"/>
                </a:solidFill>
                <a:latin typeface="Segoe UI"/>
              </a:rPr>
              <a:t>chiqarishdan himoyalangan holati.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55867" y="1645158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55867" y="1645158"/>
            <a:ext cx="73152" cy="1310894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30187" y="1809750"/>
            <a:ext cx="4936991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Chuvalchang (worm)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30187" y="2222500"/>
            <a:ext cx="4936991" cy="359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Tarmoq orqali o‘zi mustaqil tarqaladi.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1520" y="3184652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31520" y="3184652"/>
            <a:ext cx="73152" cy="1310894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5840" y="3349244"/>
            <a:ext cx="4936991" cy="3232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85"/>
              </a:lnSpc>
            </a:pPr>
            <a:r>
              <a:rPr sz="1900" b="1">
                <a:solidFill>
                  <a:srgbClr val="1B2A4A"/>
                </a:solidFill>
                <a:latin typeface="Georgia"/>
              </a:rPr>
              <a:t>Ijtimoiy muhandislik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5840" y="3718179"/>
            <a:ext cx="4936991" cy="574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80"/>
              </a:lnSpc>
            </a:pPr>
            <a:r>
              <a:rPr sz="1600" b="0">
                <a:solidFill>
                  <a:srgbClr val="3A4560"/>
                </a:solidFill>
                <a:latin typeface="Segoe UI"/>
              </a:rPr>
              <a:t>Texnik himoyani buzish o‘rniga insonning ishonchi,</a:t>
            </a:r>
            <a:br/>
            <a:r>
              <a:rPr sz="1600" b="0">
                <a:solidFill>
                  <a:srgbClr val="3A4560"/>
                </a:solidFill>
                <a:latin typeface="Segoe UI"/>
              </a:rPr>
              <a:t>qo‘rquvi yoki shoshqaloqligidan foydalanish.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55867" y="3184652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255867" y="3184652"/>
            <a:ext cx="73152" cy="1310894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30187" y="3349244"/>
            <a:ext cx="4936991" cy="352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sz="2100" b="1">
                <a:solidFill>
                  <a:srgbClr val="1B2A4A"/>
                </a:solidFill>
                <a:latin typeface="Georgia"/>
              </a:rPr>
              <a:t>Troyan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30187" y="3747389"/>
            <a:ext cx="493699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3A4560"/>
                </a:solidFill>
                <a:latin typeface="Segoe UI"/>
              </a:rPr>
              <a:t>Foydali dastur (o‘yin, «kreker») ko‘rinishida</a:t>
            </a:r>
            <a:br/>
            <a:r>
              <a:rPr sz="1800" b="0">
                <a:solidFill>
                  <a:srgbClr val="3A4560"/>
                </a:solidFill>
                <a:latin typeface="Segoe UI"/>
              </a:rPr>
              <a:t>kirib, yashirin harakat qiladi.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31520" y="4724146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31520" y="4724146"/>
            <a:ext cx="73152" cy="1310894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05840" y="4888738"/>
            <a:ext cx="4936991" cy="352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sz="2100" b="1">
                <a:solidFill>
                  <a:srgbClr val="1B2A4A"/>
                </a:solidFill>
                <a:latin typeface="Georgia"/>
              </a:rPr>
              <a:t>Virus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05840" y="5286882"/>
            <a:ext cx="493699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3A4560"/>
                </a:solidFill>
                <a:latin typeface="Segoe UI"/>
              </a:rPr>
              <a:t>Boshqa fayllarga o‘zini yozib ko‘payadi, fayl</a:t>
            </a:r>
            <a:br/>
            <a:r>
              <a:rPr sz="1800" b="0">
                <a:solidFill>
                  <a:srgbClr val="3A4560"/>
                </a:solidFill>
                <a:latin typeface="Segoe UI"/>
              </a:rPr>
              <a:t>ishga tushirilganda faollashadi.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12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3-MAVZU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Axborot xavfsizligining uch asosiy tamoyili qaysilar?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33296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33296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3655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2572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Virus va troyan o‘rtasidagi farq nimada?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294510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294510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29776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286943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To‘lov talab qiluvchi dastur qanday zarar yetkazadi?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355724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355724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358978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348157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Fishing xabarini qanday belgilar orqali aniqlash mumkin?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416938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416938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420192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09371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Zaxiralashning «3-2-1» qoidasini tushuntiring.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13 / 13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C2562D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3-mavzu. Kompyuter tizimlarida axborot xavfsizligi asoslari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