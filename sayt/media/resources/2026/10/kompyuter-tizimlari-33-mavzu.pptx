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14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B07D1E"/>
                </a:solidFill>
                <a:latin typeface="Georgia"/>
              </a:rPr>
              <a:t>33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KOMPYUTER TIZIMLARI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Kompyuter nosozliklarini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aniqlash va bartaraf etish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usullari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Nosozliklarni bartaraf etishning olti bosqichli tizimli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modeli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Nosozlikni aniqlash usullari: istisno qilish, almashtirish,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yarimga bo‘lish, minimal konfiguratsiya, xavfsiz rejim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Bartaraf etish usullari: dasturiy tiklash, apparat qismni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almashtirish, tekshirish va hujjatlashtirish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kompyuter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nosozliklarini tizimli model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asosida aniqlash va bartaraf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etish, vaziyatga mos usulni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tanlash hamda bajarilgan ishni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tekshirib hujjatlashtirish haqida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nazariy bilim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nosozliklarni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bartaraf etish bosqichlarini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to‘g‘ri ketma-ketlikda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tushuntiradilar, aniqlash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bartaraf etish usullarini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farqlaydilar hamda vaziyatga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mos usulni asoslab tanlaydilar.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NOSOZLIKLARNI BARTARAF ETISHNING OLTI BOSQICHLI TIZIMLI MODELI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Nima uchun tizimli yondashuv kerak?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Tajribasiz xodim nosozlikka duch kelganda tasodifiy harakatlar qiladi: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drayverni o‘chiradi, dasturni qayta o‘rnatadi, kabelni almashtiradi —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oxir-oqibat nima yordam berganini o‘zi ham bilmaydi.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NOSOZLIKLARNI BARTARAF ETISHNING OLTI BOSQICHLI TIZIMLI MODELI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Olti bosqichli model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6344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0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3A4560"/>
                </a:solidFill>
                <a:latin typeface="Segoe UI"/>
              </a:rPr>
              <a:t>Bu model xalqaro IT-servis amaliyotida keng qo‘llaniladi. Uning asosiy g‘oyasi — «avval o‘yla, keyin o‘zgartir»: har</a:t>
            </a:r>
            <a:br/>
            <a:r>
              <a:rPr sz="1700" b="0">
                <a:solidFill>
                  <a:srgbClr val="3A4560"/>
                </a:solidFill>
                <a:latin typeface="Segoe UI"/>
              </a:rPr>
              <a:t>bir harakat aniq farazni tekshirish uchun qilinadi.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47869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407666"/>
            <a:ext cx="10729862" cy="565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48"/>
              </a:lnSpc>
            </a:pPr>
            <a:r>
              <a:rPr sz="1600" b="1">
                <a:solidFill>
                  <a:srgbClr val="1B2A4A"/>
                </a:solidFill>
                <a:latin typeface="Segoe UI"/>
              </a:rPr>
              <a:t>Muammoni aniqlash: </a:t>
            </a:r>
            <a:r>
              <a:rPr sz="1600" b="0">
                <a:solidFill>
                  <a:srgbClr val="1B2A4A"/>
                </a:solidFill>
                <a:latin typeface="Segoe UI"/>
              </a:rPr>
              <a:t>foydalanuvchidan so‘rash, belgilarni kuzatish, oxirgi o‘zgarishlarni bilish; zarur bo‘lsa, ishni</a:t>
            </a:r>
            <a:br/>
            <a:r>
              <a:rPr sz="1600" b="0">
                <a:solidFill>
                  <a:srgbClr val="1B2A4A"/>
                </a:solidFill>
                <a:latin typeface="Segoe UI"/>
              </a:rPr>
              <a:t>boshlashdan oldin ma’lumotlarni zaxiralash.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145195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074162"/>
            <a:ext cx="10729862" cy="305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48"/>
              </a:lnSpc>
            </a:pPr>
            <a:r>
              <a:rPr sz="1600" b="1">
                <a:solidFill>
                  <a:srgbClr val="1B2A4A"/>
                </a:solidFill>
                <a:latin typeface="Segoe UI"/>
              </a:rPr>
              <a:t>Ehtimoliy sabab haqida faraz tuzish: </a:t>
            </a:r>
            <a:r>
              <a:rPr sz="1600" b="0">
                <a:solidFill>
                  <a:srgbClr val="1B2A4A"/>
                </a:solidFill>
                <a:latin typeface="Segoe UI"/>
              </a:rPr>
              <a:t>eng oddiy va ko‘p uchraydigan sabablardan boshlash.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551595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480562"/>
            <a:ext cx="10729862" cy="565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48"/>
              </a:lnSpc>
            </a:pPr>
            <a:r>
              <a:rPr sz="1600" b="1">
                <a:solidFill>
                  <a:srgbClr val="1B2A4A"/>
                </a:solidFill>
                <a:latin typeface="Segoe UI"/>
              </a:rPr>
              <a:t>Farazni tekshirish: </a:t>
            </a:r>
            <a:r>
              <a:rPr sz="1600" b="0">
                <a:solidFill>
                  <a:srgbClr val="1B2A4A"/>
                </a:solidFill>
                <a:latin typeface="Segoe UI"/>
              </a:rPr>
              <a:t>faraz tasdiqlansa — keyingi bosqichga o‘tish; tasdiqlanmasa — yangi faraz tuzish yoki masalani</a:t>
            </a:r>
            <a:br/>
            <a:r>
              <a:rPr sz="1600" b="0">
                <a:solidFill>
                  <a:srgbClr val="1B2A4A"/>
                </a:solidFill>
                <a:latin typeface="Segoe UI"/>
              </a:rPr>
              <a:t>yuqori malakali mutaxassisga topshirish.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21809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147058"/>
            <a:ext cx="10729862" cy="305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48"/>
              </a:lnSpc>
            </a:pPr>
            <a:r>
              <a:rPr sz="1600" b="1">
                <a:solidFill>
                  <a:srgbClr val="1B2A4A"/>
                </a:solidFill>
                <a:latin typeface="Segoe UI"/>
              </a:rPr>
              <a:t>Harakat rejasini tuzish va bajarish: </a:t>
            </a:r>
            <a:r>
              <a:rPr sz="1600" b="0">
                <a:solidFill>
                  <a:srgbClr val="1B2A4A"/>
                </a:solidFill>
                <a:latin typeface="Segoe UI"/>
              </a:rPr>
              <a:t>yechimning oqibatlarini (ma’lumot, vaqt, xarajat) hisobga olib amalga oshirish.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62449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553458"/>
            <a:ext cx="10729862" cy="565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48"/>
              </a:lnSpc>
            </a:pPr>
            <a:r>
              <a:rPr sz="1600" b="1">
                <a:solidFill>
                  <a:srgbClr val="1B2A4A"/>
                </a:solidFill>
                <a:latin typeface="Segoe UI"/>
              </a:rPr>
              <a:t>To‘liq ishlashini tekshirish: </a:t>
            </a:r>
            <a:r>
              <a:rPr sz="1600" b="0">
                <a:solidFill>
                  <a:srgbClr val="1B2A4A"/>
                </a:solidFill>
                <a:latin typeface="Segoe UI"/>
              </a:rPr>
              <a:t>muammo yo‘qolganini va boshqa funksiyalar buzilmaganini tasdiqlash, zarur bo‘lsa</a:t>
            </a:r>
            <a:br/>
            <a:r>
              <a:rPr sz="1600" b="0">
                <a:solidFill>
                  <a:srgbClr val="1B2A4A"/>
                </a:solidFill>
                <a:latin typeface="Segoe UI"/>
              </a:rPr>
              <a:t>profilaktika choralarini ko‘rish.</a:t>
            </a:r>
          </a:p>
        </p:txBody>
      </p:sp>
      <p:sp>
        <p:nvSpPr>
          <p:cNvPr id="49" name="Rectangle 48"/>
          <p:cNvSpPr/>
          <p:nvPr/>
        </p:nvSpPr>
        <p:spPr>
          <a:xfrm rot="2700000">
            <a:off x="841161" y="529098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5219954"/>
            <a:ext cx="10729862" cy="305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48"/>
              </a:lnSpc>
            </a:pPr>
            <a:r>
              <a:rPr sz="1600" b="1">
                <a:solidFill>
                  <a:srgbClr val="1B2A4A"/>
                </a:solidFill>
                <a:latin typeface="Segoe UI"/>
              </a:rPr>
              <a:t>Hujjatlashtirish: </a:t>
            </a:r>
            <a:r>
              <a:rPr sz="1600" b="0">
                <a:solidFill>
                  <a:srgbClr val="1B2A4A"/>
                </a:solidFill>
                <a:latin typeface="Segoe UI"/>
              </a:rPr>
              <a:t>belgi, sabab, bajarilgan ish va natijani jurnalga yozish.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NOSOZLIKNI ANIQLASH USULLARI: ISTISNO QILISH, ALMASHTIRISH, YARIMGA BO‘LISH, MINIMAL…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Nosozlikni aniqlash usullari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3981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Istisno qilish usuli: </a:t>
            </a:r>
            <a:r>
              <a:rPr sz="1900" b="0">
                <a:solidFill>
                  <a:srgbClr val="1B2A4A"/>
                </a:solidFill>
                <a:latin typeface="Segoe UI"/>
              </a:rPr>
              <a:t>ehtimoliy sabablar ro‘yxati tuziladi va ular birma-bir tekshirilib, chiqarib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tashlanadi. Oxirida qolgan sabab — haqiqiy sabab.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503845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409190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Almashtirish usuli: </a:t>
            </a:r>
            <a:r>
              <a:rPr sz="1900" b="0">
                <a:solidFill>
                  <a:srgbClr val="1B2A4A"/>
                </a:solidFill>
                <a:latin typeface="Segoe UI"/>
              </a:rPr>
              <a:t>shubhali qism (kabel, xotira moduli, quvvat bloki) aniq ishlaydigan qism bilan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almashtiriladi. Muammo yo‘qolsa, sabab topildi.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26787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173222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Yarimga bo‘lish usuli: </a:t>
            </a:r>
            <a:r>
              <a:rPr sz="1900" b="0">
                <a:solidFill>
                  <a:srgbClr val="1B2A4A"/>
                </a:solidFill>
                <a:latin typeface="Segoe UI"/>
              </a:rPr>
              <a:t>tekshiriladigan zanjir ikkiga bo‘linadi va qaysi yarmida nosozlik borligi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aniqlanadi; so‘ng shu yarmi yana ikkiga bo‘linadi.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03190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937254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Minimal konfiguratsiya usuli: </a:t>
            </a:r>
            <a:r>
              <a:rPr sz="1900" b="0">
                <a:solidFill>
                  <a:srgbClr val="1B2A4A"/>
                </a:solidFill>
                <a:latin typeface="Segoe UI"/>
              </a:rPr>
              <a:t>kompyuterda faqat ishlashi uchun zarur qismlar — protsessor,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bitta xotira moduli, videochiqish va quvvat bloki — qoldiriladi, qolganlari birma-bir…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79594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701286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Xavfsiz rejim va toza yuklash: </a:t>
            </a:r>
            <a:r>
              <a:rPr sz="1900" b="0">
                <a:solidFill>
                  <a:srgbClr val="1B2A4A"/>
                </a:solidFill>
                <a:latin typeface="Segoe UI"/>
              </a:rPr>
              <a:t>Windows faqat asosiy drayver va xizmatlar bilan ishga tushiriladi.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Muammo xavfsiz rejimda yo‘qolsa, sabab qo‘shimcha drayver yoki avtoyuklanadigan…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NOSOZLIKNI ANIQLASH USULLARI: ISTISNO QILISH, ALMASHTIRISH, YARIMGA BO‘LISH, MINIMAL…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Usulni tanlash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Muhim qoida: bir vaqtda faqat bitta o‘zgarish. Agar bir yo‘la xotira modulini almashtirib, drayverni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ham yangilasangiz, qaysi harakat yordam berganini bilmay qolasiz.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35261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0884"/>
                <a:gridCol w="2540997"/>
                <a:gridCol w="4046773"/>
              </a:tblGrid>
              <a:tr h="4527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4EBDD"/>
                          </a:solidFill>
                          <a:latin typeface="Segoe UI"/>
                        </a:rPr>
                        <a:t>Vaziyat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4EBDD"/>
                          </a:solidFill>
                          <a:latin typeface="Segoe UI"/>
                        </a:rPr>
                        <a:t>Mos usul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52755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Sabablar soni kam va oson tekshiriladi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Istisno qilish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Tez va xavfsiz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52755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Zaxira qism mavjud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Almashtirish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Eng ishonchli dalil beradi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2263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Ko‘p sonli dastur yoki xizmatdan biri aybdor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Yarimga bo‘lish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Tekshiruvlar soni keskin kamayadi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2263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Kompyuter yoqiladi, lekin POST dan o‘tmaydi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Minimal konfiguratsiya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Faqat o‘qituvchi yoki mutaxassis nazoratida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2263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Windows ishlaydi, lekin beqaror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Xavfsiz rejim, toza yuklash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Dasturiy va apparat sababni ajratadi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BARTARAF ETISH USULLARI: DASTURIY TIKLASH, APPARAT QISMNI ALMASHTIRISH, TEKSHIRISH VA…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Dasturiy bartaraf etish usullari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7918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Drayverni orqaga qaytarish yoki qayta o‘rnatish: </a:t>
            </a:r>
            <a:r>
              <a:rPr sz="2400" b="0">
                <a:solidFill>
                  <a:srgbClr val="1B2A4A"/>
                </a:solidFill>
                <a:latin typeface="Segoe UI"/>
              </a:rPr>
              <a:t>Qurilmalar dispetcheri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orqali.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05775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71750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Muammoli dastur yoki yangilanishni o‘chirish: </a:t>
            </a:r>
            <a:r>
              <a:rPr sz="2400" b="0">
                <a:solidFill>
                  <a:srgbClr val="1B2A4A"/>
                </a:solidFill>
                <a:latin typeface="Segoe UI"/>
              </a:rPr>
              <a:t>Sozlamalar yoki Windows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tiklash muhiti (WinRE) orqali.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63236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498342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Tizim fayllarini tiklash: </a:t>
            </a:r>
            <a:r>
              <a:rPr sz="2400" b="0">
                <a:solidFill>
                  <a:srgbClr val="1B2A4A"/>
                </a:solidFill>
                <a:latin typeface="Segoe UI"/>
              </a:rPr>
              <a:t>sfc va DISM vositalari bilan.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168815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034790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Tizimni tiklash nuqtasiga qaytarish: </a:t>
            </a:r>
            <a:r>
              <a:rPr sz="2400" b="0">
                <a:solidFill>
                  <a:srgbClr val="1B2A4A"/>
                </a:solidFill>
                <a:latin typeface="Segoe UI"/>
              </a:rPr>
              <a:t>rstrui.exe; shaxsiy fayllar saqlanib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qoladi.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09540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961382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Kompyuterni dastlabki holatga qaytarish: </a:t>
            </a:r>
            <a:r>
              <a:rPr sz="2400" b="0">
                <a:solidFill>
                  <a:srgbClr val="1B2A4A"/>
                </a:solidFill>
                <a:latin typeface="Segoe UI"/>
              </a:rPr>
              <a:t>Sozlamalar → Tizim → Tiklash;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boshqa usullar yordam bermaganda oxirgi chora.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BARTARAF ETISH USULLARI: DASTURIY TIKLASH, APPARAT QISMNI ALMASHTIRISH, TEKSHIRISH VA…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Apparat bartaraf etish usullari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Apparat nosozliklar ko‘pincha qayta ulash (kabel, xotira modulini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o‘rnidan chiqarib qayta joylash), tozalash (chang, oksidlangan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kontaktlar) yoki almashtirish (CMOS batareyasi, kabel, ventilyator,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quvvat bloki, disk) bilan bartaraf etiladi.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BARTARAF ETISH USULLARI: DASTURIY TIKLASH, APPARAT QISMNI ALMASHTIRISH, TEKSHIRISH VA…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Eskalatsiya: qachon to‘xtash kerak?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Boshlang‘ich darajadagi mutaxassis o‘z vakolatidan tashqaridagi ishni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bajarmasligi lozim. Ona platani kavsharlash, quvvat bloki ichini ochish,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ma’lumotlarni shikastlangan diskdan tiklash kabi ishlar yuqori malakali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mutaxassisga topshiriladi.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BARTARAF ETISH USULLARI: DASTURIY TIKLASH, APPARAT QISMNI ALMASHTIRISH, TEKSHIRISH VA…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Tekshirish va hujjatlashtirish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Ish nosozlik yo‘qolgani tasdiqlangandagina tugaydi: muammoli amal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qayta bajariladi, kompyuter kamida bir marta qayta yuklanadi,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foydalanuvchi natijani qabul qiladi.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Farazni tekshirish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149475"/>
            <a:ext cx="4936991" cy="739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Faraz tasdiqlansa — keyingi bosqichga o‘tish;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tasdiqlanmasa — yangi faraz tuzish yoki masalani yuqori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malakali mutaxassisga topshirish.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Hujjatlashtirish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07895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Belgi, sabab, bajarilgan ish va natijani jurnalga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yozish.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Istisno qilish usuli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Ehtimoliy sabablar ro‘yxati tuziladi va ular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birma-bir tekshirilib, chiqarib tashlanadi.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Kompyuterni dastlabki holatga qaytarish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688968"/>
            <a:ext cx="4936991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— Sozlamalar → Tizim → Tiklash; boshqa usullar yordam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bermaganda oxirgi chora.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Minimal konfiguratsiya usuli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228463"/>
            <a:ext cx="4936991" cy="739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Kompyuterda faqat ishlashi uchun zarur qismlar —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protsessor, bitta xotira moduli, videochiqish va quvvat bloki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— qoldiriladi, qolganlari birma-bir…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55867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55867" y="4724146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0187" y="4888738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Muammoni aniqlash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0187" y="5228463"/>
            <a:ext cx="4936991" cy="739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Foydalanuvchidan so‘rash, belgilarni kuzatish, oxirgi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o‘zgarishlarni bilish; zarur bo‘lsa, ishni boshlashdan oldin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ma’lumotlarni zaxiralash.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Nosozliklarni bartaraf etishning olti bosqichli modeli qaysi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bosqichlardan iborat?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7622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7622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7947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6865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Yarimga bo‘lish usuli qanday ishlaydi? Misol keltiring.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3743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3743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4069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29869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Minimal konfiguratsiya usulida kompyuterda qaysi qismlar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qoldiriladi?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44157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44157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4483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43400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bir vaqtda faqat bitta o‘zgarish kiritish kerak?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50279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50279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50604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95223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Eskalatsiya nima va boshlang‘ich mutaxassis qachon unga murojaat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qiladi?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B07D1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33-mavzu. Kompyuter nosozliklarini aniqlash va bartaraf etish usullari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