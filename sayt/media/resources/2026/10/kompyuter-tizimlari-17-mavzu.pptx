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Kompyuter tizimlari · 17-mavzu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 / 15</a:t>
            </a:r>
          </a:p>
        </p:txBody>
      </p:sp>
      <p:sp>
        <p:nvSpPr>
          <p:cNvPr id="34" name="Round Same Side Corner Rectangle 33"/>
          <p:cNvSpPr/>
          <p:nvPr/>
        </p:nvSpPr>
        <p:spPr>
          <a:xfrm>
            <a:off x="731520" y="777240"/>
            <a:ext cx="3291840" cy="512064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698430" y="1835590"/>
            <a:ext cx="1358019" cy="1358019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 rot="2700000">
            <a:off x="1698430" y="1835590"/>
            <a:ext cx="1358019" cy="1358019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280160" y="2148840"/>
            <a:ext cx="2282342" cy="629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4600"/>
              </a:lnSpc>
            </a:pPr>
            <a:r>
              <a:rPr sz="4600" b="1">
                <a:solidFill>
                  <a:srgbClr val="9E2A3A"/>
                </a:solidFill>
                <a:latin typeface="Georgia"/>
              </a:rPr>
              <a:t>17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" y="4114800"/>
            <a:ext cx="3043123" cy="2679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750"/>
              </a:lnSpc>
            </a:pPr>
            <a:r>
              <a:rPr sz="1400" b="1">
                <a:solidFill>
                  <a:srgbClr val="F4EBDD"/>
                </a:solidFill>
                <a:latin typeface="Segoe UI"/>
              </a:rPr>
              <a:t>MAVZU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" y="4434840"/>
            <a:ext cx="3043123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625"/>
              </a:lnSpc>
            </a:pPr>
            <a:r>
              <a:rPr sz="1300" b="0">
                <a:solidFill>
                  <a:srgbClr val="F4EBDD"/>
                </a:solidFill>
                <a:latin typeface="Segoe UI"/>
              </a:rPr>
              <a:t>Amaliy · 2 soat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0" y="1097280"/>
            <a:ext cx="7163702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5"/>
              </a:lnSpc>
            </a:pPr>
            <a:r>
              <a:rPr sz="1300" b="1">
                <a:solidFill>
                  <a:srgbClr val="9E2A3A"/>
                </a:solidFill>
                <a:latin typeface="Segoe UI"/>
              </a:rPr>
              <a:t>KOMPYUTER TIZIMLARI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0" y="1532255"/>
            <a:ext cx="7163702" cy="1752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480"/>
              </a:lnSpc>
            </a:pPr>
            <a:r>
              <a:rPr sz="4000" b="1">
                <a:solidFill>
                  <a:srgbClr val="1B2A4A"/>
                </a:solidFill>
                <a:latin typeface="Georgia"/>
              </a:rPr>
              <a:t>Kompyuter</a:t>
            </a:r>
            <a:br/>
            <a:r>
              <a:rPr sz="4000" b="1">
                <a:solidFill>
                  <a:srgbClr val="1B2A4A"/>
                </a:solidFill>
                <a:latin typeface="Georgia"/>
              </a:rPr>
              <a:t>qurilmalarining ishlash</a:t>
            </a:r>
            <a:br/>
            <a:r>
              <a:rPr sz="4000" b="1">
                <a:solidFill>
                  <a:srgbClr val="1B2A4A"/>
                </a:solidFill>
                <a:latin typeface="Georgia"/>
              </a:rPr>
              <a:t>holatini tekshirish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572000" y="3467735"/>
            <a:ext cx="1097280" cy="54864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572000" y="3787774"/>
            <a:ext cx="7163702" cy="363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00"/>
              </a:lnSpc>
            </a:pPr>
            <a:r>
              <a:rPr sz="2000" b="1">
                <a:solidFill>
                  <a:srgbClr val="1B2A4A"/>
                </a:solidFill>
                <a:latin typeface="Segoe UI"/>
              </a:rPr>
              <a:t>Oydin Tashtemirova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72000" y="4178427"/>
            <a:ext cx="7163702" cy="2838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75"/>
              </a:lnSpc>
            </a:pPr>
            <a:r>
              <a:rPr sz="1500" b="0">
                <a:solidFill>
                  <a:srgbClr val="6B6457"/>
                </a:solidFill>
                <a:latin typeface="Segoe UI"/>
              </a:rPr>
              <a:t>Maxsus fan o‘qituvchisi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0" y="4489704"/>
            <a:ext cx="7163702" cy="2838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75"/>
              </a:lnSpc>
            </a:pPr>
            <a:r>
              <a:rPr sz="1500" b="0">
                <a:solidFill>
                  <a:srgbClr val="6B6457"/>
                </a:solidFill>
                <a:latin typeface="Segoe UI"/>
              </a:rPr>
              <a:t>Piskent tuman 1-son texnikumi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Kompyuter tizimlari · 17-mavzu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2 / 15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9E2A3A"/>
                </a:solidFill>
                <a:latin typeface="Segoe UI"/>
              </a:rPr>
              <a:t>17-MAVZU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Mashg‘ulot rejasi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31520" y="1645158"/>
            <a:ext cx="10728655" cy="1234440"/>
          </a:xfrm>
          <a:prstGeom prst="roundRect">
            <a:avLst>
              <a:gd name="adj" fmla="val 592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047356" y="2029574"/>
            <a:ext cx="465606" cy="465606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 rot="2700000">
            <a:off x="1047356" y="2029574"/>
            <a:ext cx="465606" cy="465606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05840" y="2079498"/>
            <a:ext cx="570585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2000" b="1">
                <a:solidFill>
                  <a:srgbClr val="F4EBDD"/>
                </a:solidFill>
                <a:latin typeface="Georgia"/>
              </a:rPr>
              <a:t>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828800" y="1896618"/>
            <a:ext cx="9826435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>
                <a:solidFill>
                  <a:srgbClr val="1B2A4A"/>
                </a:solidFill>
                <a:latin typeface="Georgia"/>
              </a:rPr>
              <a:t>Qurilmalar holatini tekshirish tartibi va yoqilish</a:t>
            </a:r>
            <a:br/>
            <a:r>
              <a:rPr sz="2400" b="1">
                <a:solidFill>
                  <a:srgbClr val="1B2A4A"/>
                </a:solidFill>
                <a:latin typeface="Georgia"/>
              </a:rPr>
              <a:t>bosqichidagi (post) belgilar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31520" y="3108198"/>
            <a:ext cx="10728655" cy="1234440"/>
          </a:xfrm>
          <a:prstGeom prst="roundRect">
            <a:avLst>
              <a:gd name="adj" fmla="val 592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1047356" y="3492614"/>
            <a:ext cx="465606" cy="465606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 rot="2700000">
            <a:off x="1047356" y="3492614"/>
            <a:ext cx="465606" cy="465606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05840" y="3542538"/>
            <a:ext cx="570585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2000" b="1">
                <a:solidFill>
                  <a:srgbClr val="F4EBDD"/>
                </a:solidFill>
                <a:latin typeface="Georgia"/>
              </a:rPr>
              <a:t>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828800" y="3359658"/>
            <a:ext cx="9826435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>
                <a:solidFill>
                  <a:srgbClr val="1B2A4A"/>
                </a:solidFill>
                <a:latin typeface="Georgia"/>
              </a:rPr>
              <a:t>Kiritish-chiqarish qurilmalari, xotira va diskni windows</a:t>
            </a:r>
            <a:br/>
            <a:r>
              <a:rPr sz="2400" b="1">
                <a:solidFill>
                  <a:srgbClr val="1B2A4A"/>
                </a:solidFill>
                <a:latin typeface="Georgia"/>
              </a:rPr>
              <a:t>vositalari bilan tekshirish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31520" y="4571238"/>
            <a:ext cx="10728655" cy="1234440"/>
          </a:xfrm>
          <a:prstGeom prst="roundRect">
            <a:avLst>
              <a:gd name="adj" fmla="val 592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1047356" y="4955654"/>
            <a:ext cx="465606" cy="465606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 rot="2700000">
            <a:off x="1047356" y="4955654"/>
            <a:ext cx="465606" cy="465606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005840" y="5005578"/>
            <a:ext cx="570585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2000" b="1">
                <a:solidFill>
                  <a:srgbClr val="F4EBDD"/>
                </a:solidFill>
                <a:latin typeface="Georgia"/>
              </a:rPr>
              <a:t>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828800" y="4822698"/>
            <a:ext cx="9826435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>
                <a:solidFill>
                  <a:srgbClr val="1B2A4A"/>
                </a:solidFill>
                <a:latin typeface="Georgia"/>
              </a:rPr>
              <a:t>Amaliy mashq: ish o‘rni qurilmalarining holat varag‘ini</a:t>
            </a:r>
            <a:br/>
            <a:r>
              <a:rPr sz="2400" b="1">
                <a:solidFill>
                  <a:srgbClr val="1B2A4A"/>
                </a:solidFill>
                <a:latin typeface="Georgia"/>
              </a:rPr>
              <a:t>to‘ldirish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Kompyuter tizimlari · 17-mavzu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3 / 15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9E2A3A"/>
                </a:solidFill>
                <a:latin typeface="Segoe UI"/>
              </a:rPr>
              <a:t>17-MAVZU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Maqsad va kutilayotgan natija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31520" y="1645158"/>
            <a:ext cx="5181447" cy="4344161"/>
          </a:xfrm>
          <a:prstGeom prst="roundRect">
            <a:avLst>
              <a:gd name="adj" fmla="val 1683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31520" y="1645158"/>
            <a:ext cx="5181447" cy="82296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51560" y="1965198"/>
            <a:ext cx="4723022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5"/>
              </a:lnSpc>
            </a:pPr>
            <a:r>
              <a:rPr sz="1300" b="1">
                <a:solidFill>
                  <a:srgbClr val="9E2A3A"/>
                </a:solidFill>
                <a:latin typeface="Segoe UI"/>
              </a:rPr>
              <a:t>MAQSAD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51560" y="2376678"/>
            <a:ext cx="4723022" cy="3337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sz="2400" b="0">
                <a:solidFill>
                  <a:srgbClr val="3A4560"/>
                </a:solidFill>
                <a:latin typeface="Segoe UI"/>
              </a:rPr>
              <a:t>O‘quvchilarga kompyuterning</a:t>
            </a:r>
            <a:br/>
            <a:r>
              <a:rPr sz="2400" b="0">
                <a:solidFill>
                  <a:srgbClr val="3A4560"/>
                </a:solidFill>
                <a:latin typeface="Segoe UI"/>
              </a:rPr>
              <a:t>asosiy va qo‘shimcha qurilmalari</a:t>
            </a:r>
            <a:br/>
            <a:r>
              <a:rPr sz="2400" b="0">
                <a:solidFill>
                  <a:srgbClr val="3A4560"/>
                </a:solidFill>
                <a:latin typeface="Segoe UI"/>
              </a:rPr>
              <a:t>ishlash holatini tizimli ravishda</a:t>
            </a:r>
            <a:br/>
            <a:r>
              <a:rPr sz="2400" b="0">
                <a:solidFill>
                  <a:srgbClr val="3A4560"/>
                </a:solidFill>
                <a:latin typeface="Segoe UI"/>
              </a:rPr>
              <a:t>tekshirish, Windows ichki</a:t>
            </a:r>
            <a:br/>
            <a:r>
              <a:rPr sz="2400" b="0">
                <a:solidFill>
                  <a:srgbClr val="3A4560"/>
                </a:solidFill>
                <a:latin typeface="Segoe UI"/>
              </a:rPr>
              <a:t>vositalaridan foydalanish va</a:t>
            </a:r>
            <a:br/>
            <a:r>
              <a:rPr sz="2400" b="0">
                <a:solidFill>
                  <a:srgbClr val="3A4560"/>
                </a:solidFill>
                <a:latin typeface="Segoe UI"/>
              </a:rPr>
              <a:t>natijani holat varag‘iga qayd etish</a:t>
            </a:r>
            <a:br/>
            <a:r>
              <a:rPr sz="2400" b="0">
                <a:solidFill>
                  <a:srgbClr val="3A4560"/>
                </a:solidFill>
                <a:latin typeface="Segoe UI"/>
              </a:rPr>
              <a:t>bo‘yicha amaliy ko‘nikmalar</a:t>
            </a:r>
            <a:br/>
            <a:r>
              <a:rPr sz="2400" b="0">
                <a:solidFill>
                  <a:srgbClr val="3A4560"/>
                </a:solidFill>
                <a:latin typeface="Segoe UI"/>
              </a:rPr>
              <a:t>berish.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278727" y="1645158"/>
            <a:ext cx="5181447" cy="4344161"/>
          </a:xfrm>
          <a:prstGeom prst="roundRect">
            <a:avLst>
              <a:gd name="adj" fmla="val 1683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278727" y="1645158"/>
            <a:ext cx="5181447" cy="82296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598767" y="1965198"/>
            <a:ext cx="4723022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5"/>
              </a:lnSpc>
            </a:pPr>
            <a:r>
              <a:rPr sz="1300" b="1">
                <a:solidFill>
                  <a:srgbClr val="B9862A"/>
                </a:solidFill>
                <a:latin typeface="Segoe UI"/>
              </a:rPr>
              <a:t>KUTILAYOTGAN NATIJA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98767" y="2376678"/>
            <a:ext cx="4723022" cy="27203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600" b="0">
                <a:solidFill>
                  <a:srgbClr val="3A4560"/>
                </a:solidFill>
                <a:latin typeface="Segoe UI"/>
              </a:rPr>
              <a:t>Qurilmalarni belgilangan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tartibda tekshiradilar, ichki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diagnostika vositalarini ishga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tushiradilar va har bir qurilma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holatini «soz», «shubhali» yoki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«nosoz» deb baholay oladilar.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Kompyuter tizimlari · 17-mavzu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4 / 15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9E2A3A"/>
                </a:solidFill>
                <a:latin typeface="Segoe UI"/>
              </a:rPr>
              <a:t>1-REJA · QURILMALAR HOLATINI TEKSHIRISH TARTIBI VA YOQILISH BOSQICHIDAGI (POST) BELGILAR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Nima uchun tekshiruv tartibli bo‘lishi kerak?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96469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9372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700" b="0">
                <a:solidFill>
                  <a:srgbClr val="3A4560"/>
                </a:solidFill>
                <a:latin typeface="Segoe UI"/>
              </a:rPr>
              <a:t>IT-servis markaziga «kompyuter yaxshi ishlamayapti» degan murojaat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kelganda, mutaxassis tasodifiy harakat qilmaydi.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Kompyuter tizimlari · 17-mavzu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5 / 15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9E2A3A"/>
                </a:solidFill>
                <a:latin typeface="Segoe UI"/>
              </a:rPr>
              <a:t>1-REJA · QURILMALAR HOLATINI TEKSHIRISH TARTIBI VA YOQILISH BOSQICHIDAGI (POST) BELGILAR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Kerakli jihozlar va xavfsizlik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185623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700" b="0">
                <a:solidFill>
                  <a:srgbClr val="3A4560"/>
                </a:solidFill>
                <a:latin typeface="Segoe UI"/>
              </a:rPr>
              <a:t>Tekshiruv uchun ishlaydigan kompyuter, quloqchin yoki kolonka,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mikrofon, USB-fleshka va holat varag‘i kerak bo‘ladi. Bu mashg‘ulotda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tizim bloki ochilmaydi — barcha tekshiruvlar tashqi ko‘rik va dasturiy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vositalar orqali bajariladi.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Kompyuter tizimlari · 17-mavzu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6 / 15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9E2A3A"/>
                </a:solidFill>
                <a:latin typeface="Segoe UI"/>
              </a:rPr>
              <a:t>1-REJA · QURILMALAR HOLATINI TEKSHIRISH TARTIBI VA YOQILISH BOSQICHIDAGI (POST) BELGILAR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Yoqilish bosqichidagi belgilar (POST)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101422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9867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0"/>
              </a:lnSpc>
            </a:pPr>
            <a:r>
              <a:rPr sz="1900" b="0">
                <a:solidFill>
                  <a:srgbClr val="3A4560"/>
                </a:solidFill>
                <a:latin typeface="Segoe UI"/>
              </a:rPr>
              <a:t>Kompyuter yoqilganda BIOS yoki UEFI dasturi POST (Power-On Self-Test — yoqilishdagi o‘z-o‘zini</a:t>
            </a:r>
            <a:br/>
            <a:r>
              <a:rPr sz="1900" b="0">
                <a:solidFill>
                  <a:srgbClr val="3A4560"/>
                </a:solidFill>
                <a:latin typeface="Segoe UI"/>
              </a:rPr>
              <a:t>tekshirish) jarayonini bajaradi: protsessor, tezkor xotira, videokarta va klaviatura mavjudligini</a:t>
            </a:r>
            <a:br/>
            <a:r>
              <a:rPr sz="1900" b="0">
                <a:solidFill>
                  <a:srgbClr val="3A4560"/>
                </a:solidFill>
                <a:latin typeface="Segoe UI"/>
              </a:rPr>
              <a:t>tekshiradi.</a:t>
            </a:r>
          </a:p>
        </p:txBody>
      </p:sp>
      <p:graphicFrame>
        <p:nvGraphicFramePr>
          <p:cNvPr id="39" name="Table 38"/>
          <p:cNvGraphicFramePr>
            <a:graphicFrameLocks noGrp="1"/>
          </p:cNvGraphicFramePr>
          <p:nvPr/>
        </p:nvGraphicFramePr>
        <p:xfrm>
          <a:off x="731520" y="2814828"/>
          <a:ext cx="10728654" cy="30975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43384"/>
                <a:gridCol w="5685270"/>
              </a:tblGrid>
              <a:tr h="468629">
                <a:tc>
                  <a:txBody>
                    <a:bodyPr wrap="square"/>
                    <a:lstStyle/>
                    <a:p>
                      <a:r>
                        <a:rPr sz="1800" b="1">
                          <a:solidFill>
                            <a:srgbClr val="F4EBDD"/>
                          </a:solidFill>
                          <a:latin typeface="Segoe UI"/>
                        </a:rPr>
                        <a:t>Belgi</a:t>
                      </a:r>
                    </a:p>
                  </a:txBody>
                  <a:tcPr marL="109728" marR="109728" marT="73152" marB="73152">
                    <a:solidFill>
                      <a:srgbClr val="9E2A3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1">
                          <a:solidFill>
                            <a:srgbClr val="F4EBDD"/>
                          </a:solidFill>
                          <a:latin typeface="Segoe UI"/>
                        </a:rPr>
                        <a:t>Nimani bildiradi</a:t>
                      </a:r>
                    </a:p>
                  </a:txBody>
                  <a:tcPr marL="109728" marR="109728" marT="73152" marB="73152">
                    <a:solidFill>
                      <a:srgbClr val="9E2A3A"/>
                    </a:solidFill>
                  </a:tcPr>
                </a:tc>
              </a:tr>
              <a:tr h="468629"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B2A4A"/>
                          </a:solidFill>
                          <a:latin typeface="Segoe UI"/>
                        </a:rPr>
                        <a:t>Bitta qisqa signal va logotip paydo bo‘ldi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B2A4A"/>
                          </a:solidFill>
                          <a:latin typeface="Segoe UI"/>
                        </a:rPr>
                        <a:t>POST muvaffaqiyatli o‘tdi (ko‘p modellarda)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754380"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B2A4A"/>
                          </a:solidFill>
                          <a:latin typeface="Segoe UI"/>
                        </a:rPr>
                        <a:t>Ventilyatorlar aylanadi, ekran qora, takroriy signallar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B2A4A"/>
                          </a:solidFill>
                          <a:latin typeface="Segoe UI"/>
                        </a:rPr>
                        <a:t>Xotira yoki videokarta bilan muammo; signal kodlari ona plata…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468629"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B2A4A"/>
                          </a:solidFill>
                          <a:latin typeface="Segoe UI"/>
                        </a:rPr>
                        <a:t>Hech qanday indikator yonmaydi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B2A4A"/>
                          </a:solidFill>
                          <a:latin typeface="Segoe UI"/>
                        </a:rPr>
                        <a:t>Quvvat yetib kelmayapti: kabel, uzatgich, quvvat bloki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68629"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B2A4A"/>
                          </a:solidFill>
                          <a:latin typeface="Segoe UI"/>
                        </a:rPr>
                        <a:t>«Keyboard error» yoki shunga o‘xshash yozuv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B2A4A"/>
                          </a:solidFill>
                          <a:latin typeface="Segoe UI"/>
                        </a:rPr>
                        <a:t>Klaviatura ulanmagan yoki nosoz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468629"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B2A4A"/>
                          </a:solidFill>
                          <a:latin typeface="Segoe UI"/>
                        </a:rPr>
                        <a:t>Yuklanish qurilmasi topilmadi degan xabar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B2A4A"/>
                          </a:solidFill>
                          <a:latin typeface="Segoe UI"/>
                        </a:rPr>
                        <a:t>Disk aniqlanmagan yoki yuklanish tartibi noto‘g‘ri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Kompyuter tizimlari · 17-mavzu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7 / 15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9E2A3A"/>
                </a:solidFill>
                <a:latin typeface="Segoe UI"/>
              </a:rPr>
              <a:t>2-REJA · KIRITISH-CHIQARISH QURILMALARI, XOTIRA VA DISKNI WINDOWS VOSITALARI BILAN TEKSHIRISH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Kiritish qurilmalarini tekshirish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 rot="2700000">
            <a:off x="841161" y="1794931"/>
            <a:ext cx="109901" cy="109901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143000" y="1645158"/>
            <a:ext cx="10729862" cy="13136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1">
                <a:solidFill>
                  <a:srgbClr val="1B2A4A"/>
                </a:solidFill>
                <a:latin typeface="Segoe UI"/>
              </a:rPr>
              <a:t>Klaviatura: </a:t>
            </a:r>
            <a:r>
              <a:rPr sz="2600" b="0">
                <a:solidFill>
                  <a:srgbClr val="1B2A4A"/>
                </a:solidFill>
                <a:latin typeface="Segoe UI"/>
              </a:rPr>
              <a:t>Bloknot (Notepad) dasturini ochib, barcha harf va raqam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tugmalarini ketma-ket bosish; Caps Lock, Num Lock indikatorlarini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tekshirish.</a:t>
            </a:r>
          </a:p>
        </p:txBody>
      </p:sp>
      <p:sp>
        <p:nvSpPr>
          <p:cNvPr id="39" name="Rectangle 38"/>
          <p:cNvSpPr/>
          <p:nvPr/>
        </p:nvSpPr>
        <p:spPr>
          <a:xfrm rot="2700000">
            <a:off x="841161" y="3209203"/>
            <a:ext cx="109901" cy="109901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3059430"/>
            <a:ext cx="10729862" cy="891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1">
                <a:solidFill>
                  <a:srgbClr val="1B2A4A"/>
                </a:solidFill>
                <a:latin typeface="Segoe UI"/>
              </a:rPr>
              <a:t>Sichqoncha: </a:t>
            </a:r>
            <a:r>
              <a:rPr sz="2600" b="0">
                <a:solidFill>
                  <a:srgbClr val="1B2A4A"/>
                </a:solidFill>
                <a:latin typeface="Segoe UI"/>
              </a:rPr>
              <a:t>kursorni ekran burchaklariga olib borish, chap, o‘ng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tugma va g‘ildirak bilan Hujjatlar papkasida varaqlash;</a:t>
            </a:r>
          </a:p>
        </p:txBody>
      </p:sp>
      <p:sp>
        <p:nvSpPr>
          <p:cNvPr id="41" name="Rectangle 40"/>
          <p:cNvSpPr/>
          <p:nvPr/>
        </p:nvSpPr>
        <p:spPr>
          <a:xfrm rot="2700000">
            <a:off x="841161" y="4200819"/>
            <a:ext cx="109901" cy="109901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43000" y="4051046"/>
            <a:ext cx="10729862" cy="891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1">
                <a:solidFill>
                  <a:srgbClr val="1B2A4A"/>
                </a:solidFill>
                <a:latin typeface="Segoe UI"/>
              </a:rPr>
              <a:t>Mikrofon: </a:t>
            </a:r>
            <a:r>
              <a:rPr sz="2600" b="0">
                <a:solidFill>
                  <a:srgbClr val="1B2A4A"/>
                </a:solidFill>
                <a:latin typeface="Segoe UI"/>
              </a:rPr>
              <a:t>Sozlamalar → Tizim → Ovoz → Kiritish bo‘limida mikrofonni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tanlab, gapirganda daraja shkalasi harakatlanishini kuzatish.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Kompyuter tizimlari · 17-mavzu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8 / 15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9E2A3A"/>
                </a:solidFill>
                <a:latin typeface="Segoe UI"/>
              </a:rPr>
              <a:t>2-REJA · KIRITISH-CHIQARISH QURILMALARI, XOTIRA VA DISKNI WINDOWS VOSITALARI BILAN TEKSHIRISH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Chiqarish qurilmalarini tekshirish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 rot="2700000">
            <a:off x="841161" y="1763435"/>
            <a:ext cx="109901" cy="109901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143000" y="1645158"/>
            <a:ext cx="10729862" cy="7609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16"/>
              </a:lnSpc>
            </a:pPr>
            <a:r>
              <a:rPr sz="2200" b="1">
                <a:solidFill>
                  <a:srgbClr val="1B2A4A"/>
                </a:solidFill>
                <a:latin typeface="Segoe UI"/>
              </a:rPr>
              <a:t>Monitor: </a:t>
            </a:r>
            <a:r>
              <a:rPr sz="2200" b="0">
                <a:solidFill>
                  <a:srgbClr val="1B2A4A"/>
                </a:solidFill>
                <a:latin typeface="Segoe UI"/>
              </a:rPr>
              <a:t>ish stoliga bir rangli (oq, qora, qizil, yashil, ko‘k) fon qo‘yib, o‘chgan yoki</a:t>
            </a:r>
            <a:br/>
            <a:r>
              <a:rPr sz="2200" b="0">
                <a:solidFill>
                  <a:srgbClr val="1B2A4A"/>
                </a:solidFill>
                <a:latin typeface="Segoe UI"/>
              </a:rPr>
              <a:t>doim yonib turadigan piksellar, dog‘lar va yorug‘lik notekisligini…</a:t>
            </a:r>
          </a:p>
        </p:txBody>
      </p:sp>
      <p:sp>
        <p:nvSpPr>
          <p:cNvPr id="39" name="Rectangle 38"/>
          <p:cNvSpPr/>
          <p:nvPr/>
        </p:nvSpPr>
        <p:spPr>
          <a:xfrm rot="2700000">
            <a:off x="841161" y="2625003"/>
            <a:ext cx="109901" cy="109901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2506726"/>
            <a:ext cx="10729862" cy="11186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16"/>
              </a:lnSpc>
            </a:pPr>
            <a:r>
              <a:rPr sz="2200" b="1">
                <a:solidFill>
                  <a:srgbClr val="1B2A4A"/>
                </a:solidFill>
                <a:latin typeface="Segoe UI"/>
              </a:rPr>
              <a:t>Ruxsat va chastota: </a:t>
            </a:r>
            <a:r>
              <a:rPr sz="2200" b="0">
                <a:solidFill>
                  <a:srgbClr val="1B2A4A"/>
                </a:solidFill>
                <a:latin typeface="Segoe UI"/>
              </a:rPr>
              <a:t>Sozlamalar → Tizim → Displey → Kengaytirilgan displey</a:t>
            </a:r>
            <a:br/>
            <a:r>
              <a:rPr sz="2200" b="0">
                <a:solidFill>
                  <a:srgbClr val="1B2A4A"/>
                </a:solidFill>
                <a:latin typeface="Segoe UI"/>
              </a:rPr>
              <a:t>bo‘limida ruxsat tavsiya etilganiga va yangilanish chastotasi to‘g‘ri ekaniga ishonch</a:t>
            </a:r>
            <a:br/>
            <a:r>
              <a:rPr sz="2200" b="0">
                <a:solidFill>
                  <a:srgbClr val="1B2A4A"/>
                </a:solidFill>
                <a:latin typeface="Segoe UI"/>
              </a:rPr>
              <a:t>hosil…</a:t>
            </a:r>
          </a:p>
        </p:txBody>
      </p:sp>
      <p:sp>
        <p:nvSpPr>
          <p:cNvPr id="41" name="Rectangle 40"/>
          <p:cNvSpPr/>
          <p:nvPr/>
        </p:nvSpPr>
        <p:spPr>
          <a:xfrm rot="2700000">
            <a:off x="841161" y="3844203"/>
            <a:ext cx="109901" cy="109901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43000" y="3725926"/>
            <a:ext cx="10729862" cy="7609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16"/>
              </a:lnSpc>
            </a:pPr>
            <a:r>
              <a:rPr sz="2200" b="1">
                <a:solidFill>
                  <a:srgbClr val="1B2A4A"/>
                </a:solidFill>
                <a:latin typeface="Segoe UI"/>
              </a:rPr>
              <a:t>Ovoz: </a:t>
            </a:r>
            <a:r>
              <a:rPr sz="2200" b="0">
                <a:solidFill>
                  <a:srgbClr val="1B2A4A"/>
                </a:solidFill>
                <a:latin typeface="Segoe UI"/>
              </a:rPr>
              <a:t>Win + R → mmsys.cpl buyrug‘i bilan «Ovoz» oynasini ochib, chiqish</a:t>
            </a:r>
            <a:br/>
            <a:r>
              <a:rPr sz="2200" b="0">
                <a:solidFill>
                  <a:srgbClr val="1B2A4A"/>
                </a:solidFill>
                <a:latin typeface="Segoe UI"/>
              </a:rPr>
              <a:t>qurilmasini tanlash, «Sozlash» (Configure) orqali chap va o‘ng kanalni alohida…</a:t>
            </a:r>
          </a:p>
        </p:txBody>
      </p:sp>
      <p:sp>
        <p:nvSpPr>
          <p:cNvPr id="43" name="Rectangle 42"/>
          <p:cNvSpPr/>
          <p:nvPr/>
        </p:nvSpPr>
        <p:spPr>
          <a:xfrm rot="2700000">
            <a:off x="841161" y="4705771"/>
            <a:ext cx="109901" cy="109901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143000" y="4587494"/>
            <a:ext cx="10729862" cy="7609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16"/>
              </a:lnSpc>
            </a:pPr>
            <a:r>
              <a:rPr sz="2200" b="1">
                <a:solidFill>
                  <a:srgbClr val="1B2A4A"/>
                </a:solidFill>
                <a:latin typeface="Segoe UI"/>
              </a:rPr>
              <a:t>USB portlar: </a:t>
            </a:r>
            <a:r>
              <a:rPr sz="2200" b="0">
                <a:solidFill>
                  <a:srgbClr val="1B2A4A"/>
                </a:solidFill>
                <a:latin typeface="Segoe UI"/>
              </a:rPr>
              <a:t>har bir portga navbat bilan fleshka ulab, Fayl boshqaruvchisida paydo</a:t>
            </a:r>
            <a:br/>
            <a:r>
              <a:rPr sz="2200" b="0">
                <a:solidFill>
                  <a:srgbClr val="1B2A4A"/>
                </a:solidFill>
                <a:latin typeface="Segoe UI"/>
              </a:rPr>
              <a:t>bo‘lishini tekshirish.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Kompyuter tizimlari · 17-mavzu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9 / 15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9E2A3A"/>
                </a:solidFill>
                <a:latin typeface="Segoe UI"/>
              </a:rPr>
              <a:t>2-REJA · KIRITISH-CHIQARISH QURILMALARI, XOTIRA VA DISKNI WINDOWS VOSITALARI BILAN TEKSHIRISH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Xotira va diskni tekshirish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 rot="2700000">
            <a:off x="841161" y="1794931"/>
            <a:ext cx="109901" cy="109901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143000" y="1645158"/>
            <a:ext cx="10729862" cy="891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1">
                <a:solidFill>
                  <a:srgbClr val="1B2A4A"/>
                </a:solidFill>
                <a:latin typeface="Segoe UI"/>
              </a:rPr>
              <a:t>Tezkor xotira: </a:t>
            </a:r>
            <a:r>
              <a:rPr sz="2600" b="0">
                <a:solidFill>
                  <a:srgbClr val="1B2A4A"/>
                </a:solidFill>
                <a:latin typeface="Segoe UI"/>
              </a:rPr>
              <a:t>Win + R → mdsched.exe — «Windows xotira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diagnostikasi» kompyuterni qayta yuklab RAM ni tekshiradi;</a:t>
            </a:r>
          </a:p>
        </p:txBody>
      </p:sp>
      <p:sp>
        <p:nvSpPr>
          <p:cNvPr id="39" name="Rectangle 38"/>
          <p:cNvSpPr/>
          <p:nvPr/>
        </p:nvSpPr>
        <p:spPr>
          <a:xfrm rot="2700000">
            <a:off x="841161" y="2786547"/>
            <a:ext cx="109901" cy="109901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2636774"/>
            <a:ext cx="10729862" cy="891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1">
                <a:solidFill>
                  <a:srgbClr val="1B2A4A"/>
                </a:solidFill>
                <a:latin typeface="Segoe UI"/>
              </a:rPr>
              <a:t>Disk fayl tizimi: </a:t>
            </a:r>
            <a:r>
              <a:rPr sz="2600" b="0">
                <a:solidFill>
                  <a:srgbClr val="1B2A4A"/>
                </a:solidFill>
                <a:latin typeface="Segoe UI"/>
              </a:rPr>
              <a:t>Administrator huquqli buyruq satrida chkdsk C: /scan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— diskni o‘chirmasdan xatolarni qidiradi.</a:t>
            </a:r>
          </a:p>
        </p:txBody>
      </p:sp>
      <p:sp>
        <p:nvSpPr>
          <p:cNvPr id="41" name="Rectangle 40"/>
          <p:cNvSpPr/>
          <p:nvPr/>
        </p:nvSpPr>
        <p:spPr>
          <a:xfrm rot="2700000">
            <a:off x="841161" y="3778163"/>
            <a:ext cx="109901" cy="109901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43000" y="3628390"/>
            <a:ext cx="10729862" cy="13136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1">
                <a:solidFill>
                  <a:srgbClr val="1B2A4A"/>
                </a:solidFill>
                <a:latin typeface="Segoe UI"/>
              </a:rPr>
              <a:t>Disk sog‘ligi: </a:t>
            </a:r>
            <a:r>
              <a:rPr sz="2600" b="0">
                <a:solidFill>
                  <a:srgbClr val="1B2A4A"/>
                </a:solidFill>
                <a:latin typeface="Segoe UI"/>
              </a:rPr>
              <a:t>PowerShell oynasida Get-PhysicalDisk buyrug‘i —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HealthStatus ustunida «Healthy» yozuvi diskning sog‘lom ekanini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bildiradi.</a:t>
            </a:r>
          </a:p>
        </p:txBody>
      </p:sp>
      <p:sp>
        <p:nvSpPr>
          <p:cNvPr id="43" name="Rectangle 42"/>
          <p:cNvSpPr/>
          <p:nvPr/>
        </p:nvSpPr>
        <p:spPr>
          <a:xfrm rot="2700000">
            <a:off x="841161" y="5192435"/>
            <a:ext cx="109901" cy="109901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143000" y="5042662"/>
            <a:ext cx="10729862" cy="891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1">
                <a:solidFill>
                  <a:srgbClr val="1B2A4A"/>
                </a:solidFill>
                <a:latin typeface="Segoe UI"/>
              </a:rPr>
              <a:t>Yuklama: </a:t>
            </a:r>
            <a:r>
              <a:rPr sz="2600" b="0">
                <a:solidFill>
                  <a:srgbClr val="1B2A4A"/>
                </a:solidFill>
                <a:latin typeface="Segoe UI"/>
              </a:rPr>
              <a:t>Ctrl + Shift + Esc → Ishlash unumdorligi (Performance)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bo‘limida protsessor, xotira va disk yuklamasini kuzatish.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Kompyuter tizimlari · 17-mavzu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10 / 15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9E2A3A"/>
                </a:solidFill>
                <a:latin typeface="Segoe UI"/>
              </a:rPr>
              <a:t>3-REJA · AMALIY MASHQ: ISH O‘RNI QURILMALARINING HOLAT VARAG‘INI TO‘LDIRISH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Natijalarni hujjatlashtirish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70053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673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0"/>
              </a:lnSpc>
            </a:pPr>
            <a:r>
              <a:rPr sz="1900" b="0">
                <a:solidFill>
                  <a:srgbClr val="3A4560"/>
                </a:solidFill>
                <a:latin typeface="Segoe UI"/>
              </a:rPr>
              <a:t>Tekshiruv natijasi holat varag‘iga yoziladi. Bu hujjat keyingi texnik xizmatda solishtirish uchun asos</a:t>
            </a:r>
            <a:br/>
            <a:r>
              <a:rPr sz="1900" b="0">
                <a:solidFill>
                  <a:srgbClr val="3A4560"/>
                </a:solidFill>
                <a:latin typeface="Segoe UI"/>
              </a:rPr>
              <a:t>bo‘ladi va qurilma almashtirilishi kerakligini isbotlaydi.</a:t>
            </a:r>
          </a:p>
        </p:txBody>
      </p:sp>
      <p:graphicFrame>
        <p:nvGraphicFramePr>
          <p:cNvPr id="39" name="Table 38"/>
          <p:cNvGraphicFramePr>
            <a:graphicFrameLocks noGrp="1"/>
          </p:cNvGraphicFramePr>
          <p:nvPr/>
        </p:nvGraphicFramePr>
        <p:xfrm>
          <a:off x="731520" y="2501138"/>
          <a:ext cx="10728653" cy="29070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05466"/>
                <a:gridCol w="3254760"/>
                <a:gridCol w="2652027"/>
                <a:gridCol w="3616400"/>
              </a:tblGrid>
              <a:tr h="484505"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Qurilma</a:t>
                      </a:r>
                    </a:p>
                  </a:txBody>
                  <a:tcPr marL="109728" marR="109728" marT="73152" marB="73152">
                    <a:solidFill>
                      <a:srgbClr val="9E2A3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Tekshiruv usuli</a:t>
                      </a:r>
                    </a:p>
                  </a:txBody>
                  <a:tcPr marL="109728" marR="109728" marT="73152" marB="73152">
                    <a:solidFill>
                      <a:srgbClr val="9E2A3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Natija</a:t>
                      </a:r>
                    </a:p>
                  </a:txBody>
                  <a:tcPr marL="109728" marR="109728" marT="73152" marB="73152">
                    <a:solidFill>
                      <a:srgbClr val="9E2A3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Izoh</a:t>
                      </a:r>
                    </a:p>
                  </a:txBody>
                  <a:tcPr marL="109728" marR="109728" marT="73152" marB="73152">
                    <a:solidFill>
                      <a:srgbClr val="9E2A3A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Klaviatura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Bloknot, ekran klaviaturasi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Soz / shubhali / nosoz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Ishlamagan tugmalar ro‘yxati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Monitor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Bir rangli fon, ruxsat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Soz / shubhali / nosoz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O‘chgan piksellar soni va joyi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Ovoz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mmsys.cpl, kanal sinovi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Soz / shubhali / nosoz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Qaysi kanal ishlamaydi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RAM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mdsched.exe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Soz / nosoz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Diagnostika xabari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Disk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chkdsk, Get-PhysicalDisk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Soz / shubhali / nosoz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Topilgan xatolar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Kompyuter tizimlari · 17-mavzu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11 / 15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9E2A3A"/>
                </a:solidFill>
                <a:latin typeface="Segoe UI"/>
              </a:rPr>
              <a:t>3-REJA · AMALIY MASHQ: ISH O‘RNI QURILMALARINING HOLAT VARAG‘INI TO‘LDIRISH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Tipik xatolar va ularni tuzatish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 rot="2700000">
            <a:off x="841161" y="1794931"/>
            <a:ext cx="109901" cy="109901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143000" y="1645158"/>
            <a:ext cx="10729862" cy="13136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1">
                <a:solidFill>
                  <a:srgbClr val="1B2A4A"/>
                </a:solidFill>
                <a:latin typeface="Segoe UI"/>
              </a:rPr>
              <a:t>chkdsk «Kirish rad etildi» xabarini bermoqda: </a:t>
            </a:r>
            <a:r>
              <a:rPr sz="2600" b="0">
                <a:solidFill>
                  <a:srgbClr val="1B2A4A"/>
                </a:solidFill>
                <a:latin typeface="Segoe UI"/>
              </a:rPr>
              <a:t>buyruq satri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administrator sifatida ochilmagan; Boshlash menyusida cmd ni o‘ng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tugma bilan bosib, «Administrator sifatida ishga tushirish»ni tanlang.</a:t>
            </a:r>
          </a:p>
        </p:txBody>
      </p:sp>
      <p:sp>
        <p:nvSpPr>
          <p:cNvPr id="39" name="Rectangle 38"/>
          <p:cNvSpPr/>
          <p:nvPr/>
        </p:nvSpPr>
        <p:spPr>
          <a:xfrm rot="2700000">
            <a:off x="841161" y="3209203"/>
            <a:ext cx="109901" cy="109901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3059430"/>
            <a:ext cx="10729862" cy="891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1">
                <a:solidFill>
                  <a:srgbClr val="1B2A4A"/>
                </a:solidFill>
                <a:latin typeface="Segoe UI"/>
              </a:rPr>
              <a:t>Ovoz sinovida faqat bitta kanal eshitiladi: </a:t>
            </a:r>
            <a:r>
              <a:rPr sz="2600" b="0">
                <a:solidFill>
                  <a:srgbClr val="1B2A4A"/>
                </a:solidFill>
                <a:latin typeface="Segoe UI"/>
              </a:rPr>
              <a:t>quloqchin uyaga to‘liq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kirmagan yoki kabel sinchgan; boshqa quloqchin bilan solishtiring.</a:t>
            </a:r>
          </a:p>
        </p:txBody>
      </p:sp>
      <p:sp>
        <p:nvSpPr>
          <p:cNvPr id="41" name="Rectangle 40"/>
          <p:cNvSpPr/>
          <p:nvPr/>
        </p:nvSpPr>
        <p:spPr>
          <a:xfrm rot="2700000">
            <a:off x="841161" y="4200819"/>
            <a:ext cx="109901" cy="109901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43000" y="4051046"/>
            <a:ext cx="10729862" cy="891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1">
                <a:solidFill>
                  <a:srgbClr val="1B2A4A"/>
                </a:solidFill>
                <a:latin typeface="Segoe UI"/>
              </a:rPr>
              <a:t>Monitorda dog' ko‘rindi: </a:t>
            </a:r>
            <a:r>
              <a:rPr sz="2600" b="0">
                <a:solidFill>
                  <a:srgbClr val="1B2A4A"/>
                </a:solidFill>
                <a:latin typeface="Segoe UI"/>
              </a:rPr>
              <a:t>avval ekranni quruq mikrofibra mato bilan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arting: dog' ko‘pincha shunchaki chang yoki barmoq izi bo‘ladi.</a:t>
            </a:r>
          </a:p>
        </p:txBody>
      </p:sp>
      <p:sp>
        <p:nvSpPr>
          <p:cNvPr id="43" name="Rectangle 42"/>
          <p:cNvSpPr/>
          <p:nvPr/>
        </p:nvSpPr>
        <p:spPr>
          <a:xfrm rot="2700000">
            <a:off x="841161" y="5192435"/>
            <a:ext cx="109901" cy="109901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143000" y="5042662"/>
            <a:ext cx="10729862" cy="891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1">
                <a:solidFill>
                  <a:srgbClr val="1B2A4A"/>
                </a:solidFill>
                <a:latin typeface="Segoe UI"/>
              </a:rPr>
              <a:t>Fleshka bitta portda ko‘rinmaydi: </a:t>
            </a:r>
            <a:r>
              <a:rPr sz="2600" b="0">
                <a:solidFill>
                  <a:srgbClr val="1B2A4A"/>
                </a:solidFill>
                <a:latin typeface="Segoe UI"/>
              </a:rPr>
              <a:t>boshqa portda ishlasa, muammo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portda; holat varag‘iga port joylashuvini yozing.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Kompyuter tizimlari · 17-mavzu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12 / 15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9E2A3A"/>
                </a:solidFill>
                <a:latin typeface="Segoe UI"/>
              </a:rPr>
              <a:t>3-REJA · AMALIY MASHQ: ISH O‘RNI QURILMALARINING HOLAT VARAG‘INI TO‘LDIRISH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Xulosa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141046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13830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700" b="0">
                <a:solidFill>
                  <a:srgbClr val="3A4560"/>
                </a:solidFill>
                <a:latin typeface="Segoe UI"/>
              </a:rPr>
              <a:t>Tartibli tekshiruv — boshlang‘ich diagnostikaning asosi. Mutaxassis har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bir qadamni yozib boradi, bitta vaqtda faqat bitta o‘zgarish kiritadi va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natijani qayta tekshiradi.</a:t>
            </a:r>
          </a:p>
        </p:txBody>
      </p:sp>
      <p:sp>
        <p:nvSpPr>
          <p:cNvPr id="39" name="Rectangle 38"/>
          <p:cNvSpPr/>
          <p:nvPr/>
        </p:nvSpPr>
        <p:spPr>
          <a:xfrm rot="2700000">
            <a:off x="841161" y="3333409"/>
            <a:ext cx="109901" cy="109901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3183636"/>
            <a:ext cx="10729862" cy="4683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AMALIY TOPSHIRIQ</a:t>
            </a:r>
          </a:p>
        </p:txBody>
      </p:sp>
      <p:sp>
        <p:nvSpPr>
          <p:cNvPr id="41" name="Rectangle 40"/>
          <p:cNvSpPr/>
          <p:nvPr/>
        </p:nvSpPr>
        <p:spPr>
          <a:xfrm rot="2700000">
            <a:off x="841161" y="3902369"/>
            <a:ext cx="109901" cy="109901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43000" y="3752596"/>
            <a:ext cx="10729862" cy="13136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Juftliklar o‘z ish o‘rnidagi qurilmalarni belgilangan tartibda tekshiradi: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POST belgilarini kuzatish, klaviatura (Bloknot va osk), sichqoncha,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mikrofon, monitor (bir…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Kompyuter tizimlari · 17-mavzu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13 / 15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9E2A3A"/>
                </a:solidFill>
                <a:latin typeface="Segoe UI"/>
              </a:rPr>
              <a:t>17-MAVZU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Asosiy atamalar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31520" y="1645158"/>
            <a:ext cx="5204307" cy="1310894"/>
          </a:xfrm>
          <a:prstGeom prst="roundRect">
            <a:avLst>
              <a:gd name="adj" fmla="val 5580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31520" y="1645158"/>
            <a:ext cx="73152" cy="1310894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05840" y="1809750"/>
            <a:ext cx="4936991" cy="3378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300"/>
              </a:lnSpc>
            </a:pPr>
            <a:r>
              <a:rPr sz="2000" b="1">
                <a:solidFill>
                  <a:srgbClr val="1B2A4A"/>
                </a:solidFill>
                <a:latin typeface="Georgia"/>
              </a:rPr>
              <a:t>Disk fayl tizimi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05840" y="2193290"/>
            <a:ext cx="4936991" cy="6070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10"/>
              </a:lnSpc>
            </a:pPr>
            <a:r>
              <a:rPr sz="1700" b="0">
                <a:solidFill>
                  <a:srgbClr val="3A4560"/>
                </a:solidFill>
                <a:latin typeface="Segoe UI"/>
              </a:rPr>
              <a:t>Administrator huquqli buyruq satrida chkdsk C:</a:t>
            </a:r>
            <a:br/>
            <a:r>
              <a:rPr sz="1700" b="0">
                <a:solidFill>
                  <a:srgbClr val="3A4560"/>
                </a:solidFill>
                <a:latin typeface="Segoe UI"/>
              </a:rPr>
              <a:t>/scan — diskni o‘chirmasdan xatolarni qidiradi.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255867" y="1645158"/>
            <a:ext cx="5204307" cy="1310894"/>
          </a:xfrm>
          <a:prstGeom prst="roundRect">
            <a:avLst>
              <a:gd name="adj" fmla="val 5580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255867" y="1645158"/>
            <a:ext cx="73152" cy="1310894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530187" y="1809750"/>
            <a:ext cx="4936991" cy="2940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4"/>
              </a:lnSpc>
            </a:pPr>
            <a:r>
              <a:rPr sz="1700" b="1">
                <a:solidFill>
                  <a:srgbClr val="1B2A4A"/>
                </a:solidFill>
                <a:latin typeface="Georgia"/>
              </a:rPr>
              <a:t>Disk sog‘ligi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30187" y="2149475"/>
            <a:ext cx="4936991" cy="7391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20"/>
              </a:lnSpc>
            </a:pPr>
            <a:r>
              <a:rPr sz="1400" b="0">
                <a:solidFill>
                  <a:srgbClr val="3A4560"/>
                </a:solidFill>
                <a:latin typeface="Segoe UI"/>
              </a:rPr>
              <a:t>PowerShell oynasida Get-PhysicalDisk buyrug‘i —</a:t>
            </a:r>
            <a:br/>
            <a:r>
              <a:rPr sz="1400" b="0">
                <a:solidFill>
                  <a:srgbClr val="3A4560"/>
                </a:solidFill>
                <a:latin typeface="Segoe UI"/>
              </a:rPr>
              <a:t>HealthStatus ustunida «Healthy» yozuvi diskning sog‘lom</a:t>
            </a:r>
            <a:br/>
            <a:r>
              <a:rPr sz="1400" b="0">
                <a:solidFill>
                  <a:srgbClr val="3A4560"/>
                </a:solidFill>
                <a:latin typeface="Segoe UI"/>
              </a:rPr>
              <a:t>ekanini bildiradi.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31520" y="3184652"/>
            <a:ext cx="5204307" cy="1310894"/>
          </a:xfrm>
          <a:prstGeom prst="roundRect">
            <a:avLst>
              <a:gd name="adj" fmla="val 5580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731520" y="3184652"/>
            <a:ext cx="73152" cy="1310894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005840" y="3349244"/>
            <a:ext cx="4936991" cy="3524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15"/>
              </a:lnSpc>
            </a:pPr>
            <a:r>
              <a:rPr sz="2100" b="1">
                <a:solidFill>
                  <a:srgbClr val="1B2A4A"/>
                </a:solidFill>
                <a:latin typeface="Georgia"/>
              </a:rPr>
              <a:t>Fleshka bitta portda ko‘rinmaydi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05840" y="3747389"/>
            <a:ext cx="4936991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340"/>
              </a:lnSpc>
            </a:pPr>
            <a:r>
              <a:rPr sz="1800" b="0">
                <a:solidFill>
                  <a:srgbClr val="3A4560"/>
                </a:solidFill>
                <a:latin typeface="Segoe UI"/>
              </a:rPr>
              <a:t>— boshqa portda ishlasa, muammo portda;</a:t>
            </a:r>
            <a:br/>
            <a:r>
              <a:rPr sz="1800" b="0">
                <a:solidFill>
                  <a:srgbClr val="3A4560"/>
                </a:solidFill>
                <a:latin typeface="Segoe UI"/>
              </a:rPr>
              <a:t>holat varag‘iga port joylashuvini yozing.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255867" y="3184652"/>
            <a:ext cx="5204307" cy="1310894"/>
          </a:xfrm>
          <a:prstGeom prst="roundRect">
            <a:avLst>
              <a:gd name="adj" fmla="val 5580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255867" y="3184652"/>
            <a:ext cx="73152" cy="1310894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530187" y="3349244"/>
            <a:ext cx="4936991" cy="2940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4"/>
              </a:lnSpc>
            </a:pPr>
            <a:r>
              <a:rPr sz="1700" b="1">
                <a:solidFill>
                  <a:srgbClr val="1B2A4A"/>
                </a:solidFill>
                <a:latin typeface="Georgia"/>
              </a:rPr>
              <a:t>Ovoz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530187" y="3688968"/>
            <a:ext cx="4936991" cy="7391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20"/>
              </a:lnSpc>
            </a:pPr>
            <a:r>
              <a:rPr sz="1400" b="0">
                <a:solidFill>
                  <a:srgbClr val="3A4560"/>
                </a:solidFill>
                <a:latin typeface="Segoe UI"/>
              </a:rPr>
              <a:t>Win + R → mmsys.cpl buyrug‘i bilan «Ovoz» oynasini ochib,</a:t>
            </a:r>
            <a:br/>
            <a:r>
              <a:rPr sz="1400" b="0">
                <a:solidFill>
                  <a:srgbClr val="3A4560"/>
                </a:solidFill>
                <a:latin typeface="Segoe UI"/>
              </a:rPr>
              <a:t>chiqish qurilmasini tanlash, «Sozlash» (Configure) orqali</a:t>
            </a:r>
            <a:br/>
            <a:r>
              <a:rPr sz="1400" b="0">
                <a:solidFill>
                  <a:srgbClr val="3A4560"/>
                </a:solidFill>
                <a:latin typeface="Segoe UI"/>
              </a:rPr>
              <a:t>chap va o‘ng kanalni alohida…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731520" y="4724146"/>
            <a:ext cx="5204307" cy="1310894"/>
          </a:xfrm>
          <a:prstGeom prst="roundRect">
            <a:avLst>
              <a:gd name="adj" fmla="val 5580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731520" y="4724146"/>
            <a:ext cx="73152" cy="1310894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005840" y="4888738"/>
            <a:ext cx="4936991" cy="2940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4"/>
              </a:lnSpc>
            </a:pPr>
            <a:r>
              <a:rPr sz="1700" b="1">
                <a:solidFill>
                  <a:srgbClr val="1B2A4A"/>
                </a:solidFill>
                <a:latin typeface="Georgia"/>
              </a:rPr>
              <a:t>Ruxsat va chastota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05840" y="5228463"/>
            <a:ext cx="4936991" cy="7391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20"/>
              </a:lnSpc>
            </a:pPr>
            <a:r>
              <a:rPr sz="1400" b="0">
                <a:solidFill>
                  <a:srgbClr val="3A4560"/>
                </a:solidFill>
                <a:latin typeface="Segoe UI"/>
              </a:rPr>
              <a:t>Sozlamalar → Tizim → Displey → Kengaytirilgan displey</a:t>
            </a:r>
            <a:br/>
            <a:r>
              <a:rPr sz="1400" b="0">
                <a:solidFill>
                  <a:srgbClr val="3A4560"/>
                </a:solidFill>
                <a:latin typeface="Segoe UI"/>
              </a:rPr>
              <a:t>bo‘limida ruxsat tavsiya etilganiga va yangilanish chastotasi</a:t>
            </a:r>
            <a:br/>
            <a:r>
              <a:rPr sz="1400" b="0">
                <a:solidFill>
                  <a:srgbClr val="3A4560"/>
                </a:solidFill>
                <a:latin typeface="Segoe UI"/>
              </a:rPr>
              <a:t>to‘g‘ri ekaniga ishonch hosil…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6255867" y="4724146"/>
            <a:ext cx="5204307" cy="1310894"/>
          </a:xfrm>
          <a:prstGeom prst="roundRect">
            <a:avLst>
              <a:gd name="adj" fmla="val 5580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6255867" y="4724146"/>
            <a:ext cx="73152" cy="1310894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530187" y="4888738"/>
            <a:ext cx="4936991" cy="36702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29"/>
              </a:lnSpc>
            </a:pPr>
            <a:r>
              <a:rPr sz="2200" b="1">
                <a:solidFill>
                  <a:srgbClr val="1B2A4A"/>
                </a:solidFill>
                <a:latin typeface="Georgia"/>
              </a:rPr>
              <a:t>Tartibli tekshiruv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530187" y="5301487"/>
            <a:ext cx="4936991" cy="3594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0"/>
              </a:lnSpc>
            </a:pPr>
            <a:r>
              <a:rPr sz="1900" b="0">
                <a:solidFill>
                  <a:srgbClr val="3A4560"/>
                </a:solidFill>
                <a:latin typeface="Segoe UI"/>
              </a:rPr>
              <a:t>Boshlang‘ich diagnostikaning asosi.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Kompyuter tizimlari · 17-mavzu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14 / 15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9E2A3A"/>
                </a:solidFill>
                <a:latin typeface="Segoe UI"/>
              </a:rPr>
              <a:t>17-MAVZU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Mustahkamlash uchun savollar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45283" y="1720821"/>
            <a:ext cx="284537" cy="28453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 rot="2700000">
            <a:off x="845283" y="1720821"/>
            <a:ext cx="284537" cy="28453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86384" y="175336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417320" y="1645158"/>
            <a:ext cx="10206825" cy="904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«Tashqidan ichkariga, oddiydan murakkabga» tamoyili nimani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anglatadi?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45283" y="2762221"/>
            <a:ext cx="284537" cy="28453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 rot="2700000">
            <a:off x="845283" y="2762221"/>
            <a:ext cx="284537" cy="28453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86384" y="279476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417320" y="268655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POST nima va u qaysi qurilmalarni tekshiradi?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45283" y="3374361"/>
            <a:ext cx="284537" cy="28453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 rot="2700000">
            <a:off x="845283" y="3374361"/>
            <a:ext cx="284537" cy="28453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86384" y="340690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3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417320" y="329869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Monitordagi o‘chgan piksellarni qanday aniqlash mumkin?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45283" y="3986501"/>
            <a:ext cx="284537" cy="28453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 rot="2700000">
            <a:off x="845283" y="3986501"/>
            <a:ext cx="284537" cy="28453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86384" y="401904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4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417320" y="3910838"/>
            <a:ext cx="10206825" cy="904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Tezkor xotirani tekshirish uchun qaysi Windows vositasidan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foydalaniladi?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45283" y="5027901"/>
            <a:ext cx="284537" cy="28453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 rot="2700000">
            <a:off x="845283" y="5027901"/>
            <a:ext cx="284537" cy="28453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86384" y="506044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5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417320" y="4952238"/>
            <a:ext cx="10206825" cy="904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Holat varag‘ida qurilmalar qanday toifalarga ajratiladi va u nima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uchun kerak?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Kompyuter tizimlari · 17-mavzu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15 / 15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81505" y="1625937"/>
            <a:ext cx="1228684" cy="1228684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 rot="2700000">
            <a:off x="5481505" y="1625937"/>
            <a:ext cx="1228684" cy="1228684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740175" y="1884608"/>
            <a:ext cx="711343" cy="711343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 rot="2700000">
            <a:off x="5740175" y="1884608"/>
            <a:ext cx="711343" cy="711343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31520" y="3429000"/>
            <a:ext cx="11157801" cy="680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5000"/>
              </a:lnSpc>
            </a:pPr>
            <a:r>
              <a:rPr sz="4000" b="1">
                <a:solidFill>
                  <a:srgbClr val="1B2A4A"/>
                </a:solidFill>
                <a:latin typeface="Georgia"/>
              </a:rPr>
              <a:t>E’tiboringiz uchun rahmat!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1520" y="4251960"/>
            <a:ext cx="11157801" cy="363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500"/>
              </a:lnSpc>
            </a:pPr>
            <a:r>
              <a:rPr sz="2000" b="0">
                <a:solidFill>
                  <a:srgbClr val="3A4560"/>
                </a:solidFill>
                <a:latin typeface="Segoe UI"/>
              </a:rPr>
              <a:t>Savollaringiz bo‘lsa, marhamat.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1520" y="4892040"/>
            <a:ext cx="11157801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1600" b="1">
                <a:solidFill>
                  <a:srgbClr val="9E2A3A"/>
                </a:solidFill>
                <a:latin typeface="Segoe UI"/>
              </a:rPr>
              <a:t>Oydin Tashtemirova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17-mavzu. Kompyuter qurilmalarining ishlash holatini tekshirish</dc:title>
  <dc:subject/>
  <dc:creator>Oydin Tashtemirova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