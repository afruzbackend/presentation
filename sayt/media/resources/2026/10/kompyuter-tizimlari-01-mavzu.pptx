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13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C2562D"/>
                </a:solidFill>
                <a:latin typeface="Georgia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C2562D"/>
                </a:solidFill>
                <a:latin typeface="Segoe UI"/>
              </a:rPr>
              <a:t>KOMPYUTER TIZIMLARI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232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Kompyuter xonasida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mehnat muhofazasi va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texnika xavfsizligi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qoidalari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4036694"/>
            <a:ext cx="1097280" cy="5486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435673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747386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505866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1-MAVZU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Kompyuter xonasidagi xavfli va zararli omillar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Ish o‘rnini tashkil etish va sog‘liqni saqlash talablari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Texnika xavfsizligi qoidalari va favqulodda holatlarda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harakat tartibi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1-MAVZU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C2562D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kompyuter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xonasidagi xavfli omillar, ish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o‘rnini to‘g‘ri tashkil etish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hamda texnika va yong‘in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xavfsizligi qoidalari bo‘yicha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bilim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Kompyuter xonasidagi xavfli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omillarni taniydilar, ish o‘rnini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ergonomik talablarga mos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tashkil etadilar va favqulodda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holatda to‘g‘ri harakat qila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oladilar.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1-REJA · KOMPYUTER XONASIDAGI XAVFLI VA ZARARLI OMILLAR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Mehnat muhofazasi nima?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Mehnat muhofazasi — ish jarayonida insonning hayoti va sog‘lig‘ini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saqlashga qaratilgan huquqiy, tashkiliy, texnik va sanitariya-gigiyena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tadbirlari tizimi.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1-REJA · KOMPYUTER XONASIDAGI XAVFLI VA ZARARLI OMILLAR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Xavfli va zararli omillar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6375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Bu omillarning ba’zilari darhol shikast yetkazadi (elektr toki, yong‘in), boshqalari esa oylar va</a:t>
            </a:r>
            <a:br/>
            <a:r>
              <a:rPr sz="2000" b="0">
                <a:solidFill>
                  <a:srgbClr val="3A4560"/>
                </a:solidFill>
                <a:latin typeface="Segoe UI"/>
              </a:rPr>
              <a:t>yillar davomida asta-sekin sog‘liqqa ta’sir qiladi (ko‘rish pasayishi, bel og‘rig‘i). Ikkala guruhdan</a:t>
            </a:r>
            <a:br/>
            <a:r>
              <a:rPr sz="2000" b="0">
                <a:solidFill>
                  <a:srgbClr val="3A4560"/>
                </a:solidFill>
                <a:latin typeface="Segoe UI"/>
              </a:rPr>
              <a:t>ham ehtiyot bo‘lish zarur.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93158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836926"/>
            <a:ext cx="10729862" cy="354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Elektr xavfi: </a:t>
            </a:r>
            <a:r>
              <a:rPr sz="1900" b="0">
                <a:solidFill>
                  <a:srgbClr val="1B2A4A"/>
                </a:solidFill>
                <a:latin typeface="Segoe UI"/>
              </a:rPr>
              <a:t>220 V kuchlanishli rozetkalar, uzatgichlar, shikastlangan kabellar, ochiq korpuslar.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38674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292094"/>
            <a:ext cx="10729862" cy="663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Yong‘in xavfi: </a:t>
            </a:r>
            <a:r>
              <a:rPr sz="1900" b="0">
                <a:solidFill>
                  <a:srgbClr val="1B2A4A"/>
                </a:solidFill>
                <a:latin typeface="Segoe UI"/>
              </a:rPr>
              <a:t>ortiqcha yuklangan uzatgich, qizib ketgan quvvat bloki, chang bosgan sovutish</a:t>
            </a:r>
            <a:br/>
            <a:r>
              <a:rPr sz="1900" b="0">
                <a:solidFill>
                  <a:srgbClr val="1B2A4A"/>
                </a:solidFill>
                <a:latin typeface="Segoe UI"/>
              </a:rPr>
              <a:t>tizimi.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15078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056126"/>
            <a:ext cx="10729862" cy="354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Ko‘rish zo‘riqishi: </a:t>
            </a:r>
            <a:r>
              <a:rPr sz="1900" b="0">
                <a:solidFill>
                  <a:srgbClr val="1B2A4A"/>
                </a:solidFill>
                <a:latin typeface="Segoe UI"/>
              </a:rPr>
              <a:t>monitorga uzoq tikilish, ekrandagi yaltirash, noto‘g‘ri yoritilish.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60594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511294"/>
            <a:ext cx="10729862" cy="663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Tayanch-harakat tizimiga yuklama: </a:t>
            </a:r>
            <a:r>
              <a:rPr sz="1900" b="0">
                <a:solidFill>
                  <a:srgbClr val="1B2A4A"/>
                </a:solidFill>
                <a:latin typeface="Segoe UI"/>
              </a:rPr>
              <a:t>noqulay stul, egilib o‘tirish, qo‘l bilakning doimiy</a:t>
            </a:r>
            <a:br/>
            <a:r>
              <a:rPr sz="1900" b="0">
                <a:solidFill>
                  <a:srgbClr val="1B2A4A"/>
                </a:solidFill>
                <a:latin typeface="Segoe UI"/>
              </a:rPr>
              <a:t>taranglashuvi.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36998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5275326"/>
            <a:ext cx="10729862" cy="354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Psixologik charchoq: </a:t>
            </a:r>
            <a:r>
              <a:rPr sz="1900" b="0">
                <a:solidFill>
                  <a:srgbClr val="1B2A4A"/>
                </a:solidFill>
                <a:latin typeface="Segoe UI"/>
              </a:rPr>
              <a:t>tanaffussiz uzoq ishlash, shovqin, xonaning dimiqligi.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2-REJA · ISH O‘RNINI TASHKIL ETISH VA SOG‘LIQNI SAQLASH TALABLARI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Ish o‘rnini ergonomik tashkil etish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Ergonomika — ish joyi, jihozlar va inson imkoniyatlarini bir-biriga moslashtirish haqidagi fan.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To‘g‘ri tashkil etilgan ish o‘rni charchoqni kamaytiradi va ish unumdorligini oshiradi.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5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5144"/>
                <a:gridCol w="7333511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Ko‘rsatkich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Tavsiya etiladigan holat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Ko‘zdan ekrangacha masofa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Taxminan 50–70 sm (cho‘zilgan qo‘l uzunligi)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Ekranning yuqori cheti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Ko‘z sathida yoki biroz pastroq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Tirsak burchagi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Taxminan 90°, bilak klaviatura bilan bir tekislikda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Oyoq holati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Tovon polda to‘liq turadi, tizza burchagi taxminan 90°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Yorug‘lik manbai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Yon tomondan tushadi, ekranda aks bermaydi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2-REJA · ISH O‘RNINI TASHKIL ETISH VA SOG‘LIQNI SAQLASH TALABLARI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Sog‘liqni saqlash qoidalari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2123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1849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0"/>
              </a:lnSpc>
            </a:pPr>
            <a:r>
              <a:rPr sz="2300" b="0">
                <a:solidFill>
                  <a:srgbClr val="3A4560"/>
                </a:solidFill>
                <a:latin typeface="Segoe UI"/>
              </a:rPr>
              <a:t>Oyna qarshisiga yoki orqasiga monitor qo‘yish tavsiya etilmaydi: kunduzgi yorug‘lik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ekranda aks berib, ko‘zni tez charchatadi. Pardalar yoki jalyuzi yordamida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yorug‘likni boshqarish lozim.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103793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985516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Har 45–60 daqiqalik ishdan keyin qisqa tanaffus qilib, ko‘z va qo‘l uchun mashq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bajarish.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96536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847084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«20-20-20» qoidasi: </a:t>
            </a:r>
            <a:r>
              <a:rPr sz="2200" b="0">
                <a:solidFill>
                  <a:srgbClr val="1B2A4A"/>
                </a:solidFill>
                <a:latin typeface="Segoe UI"/>
              </a:rPr>
              <a:t>har 20 daqiqada 20 soniya davomida taxminan 6 metr (20 fut)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uzoqlikdagi narsaga qarash.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82692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708652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Xonani muntazam shamollatish va namlikni me’yorda saqlash.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5330865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5212588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Monitor yorqinligini xona yorug‘ligiga moslash, ekranni changdan tozalab turish.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3-REJA · TEXNIKA XAVFSIZLIGI QOIDALARI VA FAVQULODDA HOLATLARDA HARAKAT TARTIBI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Ishni boshlashdan oldin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Ish o‘rnini ko‘zdan kechirish: </a:t>
            </a:r>
            <a:r>
              <a:rPr sz="2600" b="0">
                <a:solidFill>
                  <a:srgbClr val="1B2A4A"/>
                </a:solidFill>
                <a:latin typeface="Segoe UI"/>
              </a:rPr>
              <a:t>kabel, vilka va rozetkalar butunligini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tekshirish.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Ish stolidan ortiqcha narsalar, ayniqsa suyuqlik idishlarini olib qo‘yish.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355507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20573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Kompyuterni o‘qituvchi ruxsati bilan, avval monitor, so‘ng tizim blokini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yoqish.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347123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197350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Nosozlik sezilsa (hid, uchqun, g‘ayritabiiy ovoz) — kompyuterni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yoqmasdan o‘qituvchiga xabar berish.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3-REJA · TEXNIKA XAVFSIZLIGI QOIDALARI VA FAVQULODDA HOLATLARDA HARAKAT TARTIBI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Ish vaqtida va tugaganda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96469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37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Ish vaqtida kabellarni tortish, korpusni ochish, qurilmalarni yoqilgan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holatda ulash yoki ajratish (USB qurilmalaridan tashqari) taqiqlanadi.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3-REJA · TEXNIKA XAVFSIZLIGI QOIDALARI VA FAVQULODDA HOLATLARDA HARAKAT TARTIBI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Yong‘in va favqulodda holatlar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Elektr jihozlarida yong‘in chiqqanda suv ishlatish qat’iyan man etiladi, chunki suv tok o‘tkazadi.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Avval xona elektr ta’minoti uziladi, so‘ng karbonat angidridli (OU) yoki kukunli (OP) o‘t o‘chirgich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qo‘llaniladi.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4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6263"/>
                <a:gridCol w="6437193"/>
                <a:gridCol w="1355198"/>
              </a:tblGrid>
              <a:tr h="6908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4EBDD"/>
                          </a:solidFill>
                          <a:latin typeface="Segoe UI"/>
                        </a:rPr>
                        <a:t>Holat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4EBDD"/>
                          </a:solidFill>
                          <a:latin typeface="Segoe UI"/>
                        </a:rPr>
                        <a:t>Birinchi harakat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4EBDD"/>
                          </a:solidFill>
                          <a:latin typeface="Segoe UI"/>
                        </a:rPr>
                        <a:t>Xabar berish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Qurilmadan tutun chiqmoqda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Qurilmani tarmoqdan uzish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O‘qituvchiga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69088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Yong‘in boshlandi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Avtomatni o‘chirish, OU yoki OP o‘t o‘chirgichni qo‘llash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101 yoki 112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69088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Kimnidir tok urdi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Tok manbaini uzish, xavfsiz ajratish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103 yoki 112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69088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Xonani tutun qopladi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Engashib, evakuatsiya yo‘li bo‘ylab chiqish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101 yoki 112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1-MAVZU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131089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Elektr xavfi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07895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220 V kuchlanishli rozetkalar, uzatgichlar,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shikastlangan kabellar, ochiq korpuslar.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131089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Ergonomika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207895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Ish joyi, jihozlar va inson imkoniyatlarini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bir-biriga moslashtirish haqidagi fan.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184652"/>
            <a:ext cx="73152" cy="131089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3349244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Ko‘rish zo‘riqishi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3747389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Monitorga uzoq tikilish, ekrandagi yaltirash,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noto‘g‘ri yoritilish.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55867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55867" y="3184652"/>
            <a:ext cx="73152" cy="131089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0187" y="3349244"/>
            <a:ext cx="4936991" cy="2940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4"/>
              </a:lnSpc>
            </a:pPr>
            <a:r>
              <a:rPr sz="1700" b="1">
                <a:solidFill>
                  <a:srgbClr val="1B2A4A"/>
                </a:solidFill>
                <a:latin typeface="Georgia"/>
              </a:rPr>
              <a:t>Mehnat muhofazasi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0187" y="3688968"/>
            <a:ext cx="4936991" cy="739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3A4560"/>
                </a:solidFill>
                <a:latin typeface="Segoe UI"/>
              </a:rPr>
              <a:t>Ish jarayonida insonning hayoti va sog‘lig‘ini saqlashga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qaratilgan huquqiy, tashkiliy, texnik va sanitariya-gigiyena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tadbirlari tizimi.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1520" y="4724146"/>
            <a:ext cx="73152" cy="131089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5840" y="4888738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Psixologik charchoq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" y="5286882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Tanaffussiz uzoq ishlash, shovqin, xonaning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dimiqligi.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55867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55867" y="4724146"/>
            <a:ext cx="73152" cy="131089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30187" y="4888738"/>
            <a:ext cx="4936991" cy="33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0"/>
              </a:lnSpc>
            </a:pPr>
            <a:r>
              <a:rPr sz="2000" b="1">
                <a:solidFill>
                  <a:srgbClr val="1B2A4A"/>
                </a:solidFill>
                <a:latin typeface="Georgia"/>
              </a:rPr>
              <a:t>Tayanch-harakat tizimiga yuklama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30187" y="5272278"/>
            <a:ext cx="4936991" cy="607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10"/>
              </a:lnSpc>
            </a:pPr>
            <a:r>
              <a:rPr sz="1700" b="0">
                <a:solidFill>
                  <a:srgbClr val="3A4560"/>
                </a:solidFill>
                <a:latin typeface="Segoe UI"/>
              </a:rPr>
              <a:t>Noqulay stul, egilib o‘tirish, qo‘l bilakning doimiy</a:t>
            </a:r>
            <a:br/>
            <a:r>
              <a:rPr sz="1700" b="0">
                <a:solidFill>
                  <a:srgbClr val="3A4560"/>
                </a:solidFill>
                <a:latin typeface="Segoe UI"/>
              </a:rPr>
              <a:t>taranglashuvi.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1-MAVZU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Kompyuter xonasida qanday xavfli va zararli omillar mavjud?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Ko‘zdan monitorgacha bo‘lgan masofa qancha bo‘lishi tavsiya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etiladi?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337436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337436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34069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32986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«20-20-20» qoidasining mohiyati nimada?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98650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98650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40190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9108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Ishni boshlashdan oldin ish o‘rnida nimalar tekshiriladi?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59864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59864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6311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52297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Nima uchun elektr jihozlaridagi yong‘inni suv bilan o‘chirish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mumkin emas?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C2562D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1-mavzu. Kompyuter xonasida mehnat muhofazasi va texnika xavfsizligi qoidalari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